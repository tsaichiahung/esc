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7"/>
  </p:notesMasterIdLst>
  <p:sldIdLst>
    <p:sldId id="273" r:id="rId2"/>
    <p:sldId id="257" r:id="rId3"/>
    <p:sldId id="258" r:id="rId4"/>
    <p:sldId id="272" r:id="rId5"/>
    <p:sldId id="260" r:id="rId6"/>
    <p:sldId id="277" r:id="rId7"/>
    <p:sldId id="276" r:id="rId8"/>
    <p:sldId id="278" r:id="rId9"/>
    <p:sldId id="279" r:id="rId10"/>
    <p:sldId id="259" r:id="rId11"/>
    <p:sldId id="280" r:id="rId12"/>
    <p:sldId id="261" r:id="rId13"/>
    <p:sldId id="275" r:id="rId14"/>
    <p:sldId id="281" r:id="rId15"/>
    <p:sldId id="274" r:id="rId16"/>
    <p:sldId id="264" r:id="rId17"/>
    <p:sldId id="265" r:id="rId18"/>
    <p:sldId id="262" r:id="rId19"/>
    <p:sldId id="263" r:id="rId20"/>
    <p:sldId id="266" r:id="rId21"/>
    <p:sldId id="267" r:id="rId22"/>
    <p:sldId id="268" r:id="rId23"/>
    <p:sldId id="269" r:id="rId24"/>
    <p:sldId id="270" r:id="rId25"/>
    <p:sldId id="271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90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C94993-66F3-0048-A878-2D21CC69B38E}" type="datetimeFigureOut">
              <a:rPr kumimoji="1" lang="zh-TW" altLang="en-US" smtClean="0"/>
              <a:t>2026/3/26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CB39E87-EEEA-1642-9F4A-75752D21CD63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465366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A3300-FD17-E64B-85D3-9CA7A93BBB9D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B1ECD-9B94-CD46-8598-2AD8799412EA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5DFC9D-5689-B44F-9A08-E557A13175D1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BE83D4-DD83-3E47-AA61-F040D5D9B9B9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0DD6E2-01AB-8D43-A5A7-AEADD8B58E79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0F7EC8-6E2A-694A-BEE9-4E5B3BC61910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863947-9BF6-0B48-952F-74A6328FB885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B0D198-C65C-C949-A5EB-9349C83426E3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6E11A4-0DCC-424E-B849-E6E18A3CE488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06495C-95D2-424D-B6B1-4EDAD22E2F57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DA6E3-EC9F-5544-A925-20D173FB7322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2E6136-4253-B441-819B-E17D162E7AA8}" type="datetime1">
              <a:rPr lang="zh-TW" altLang="en-US" smtClean="0"/>
              <a:t>2026/3/26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D2C581A-6C2F-AD9D-C1C1-1AB102186A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" altLang="zh-TW" dirty="0"/>
              <a:t>Taiwan’s Elections and Democratization</a:t>
            </a:r>
            <a:endParaRPr kumimoji="1"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EF7CA06-3E3E-80FE-F2CC-AD4571FE849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en-US" altLang="zh-TW" sz="2400" dirty="0">
                <a:solidFill>
                  <a:schemeClr val="tx1"/>
                </a:solidFill>
              </a:rPr>
              <a:t>Chia-hung Tsai</a:t>
            </a:r>
          </a:p>
          <a:p>
            <a:r>
              <a:rPr kumimoji="1" lang="en-US" altLang="zh-TW" sz="2400" dirty="0">
                <a:solidFill>
                  <a:schemeClr val="tx1"/>
                </a:solidFill>
              </a:rPr>
              <a:t>Election Study Center</a:t>
            </a:r>
          </a:p>
          <a:p>
            <a:r>
              <a:rPr kumimoji="1" lang="en-US" altLang="zh-TW" sz="2400" dirty="0">
                <a:solidFill>
                  <a:schemeClr val="tx1"/>
                </a:solidFill>
              </a:rPr>
              <a:t>March 26, 2026</a:t>
            </a:r>
            <a:endParaRPr kumimoji="1" lang="zh-TW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353819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Taiwan’s Elections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sz="2400" dirty="0"/>
              <a:t>Taiwan is one of the most vibrant democracies in East Asia.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According to Huntington’s theory, Taiwan is the third-wave democracy with two party turnover</a:t>
            </a:r>
            <a:endParaRPr sz="2400" dirty="0"/>
          </a:p>
          <a:p>
            <a:pPr>
              <a:buFont typeface="Wingdings" pitchFamily="2" charset="2"/>
              <a:buChar char="Ø"/>
            </a:pPr>
            <a:r>
              <a:rPr sz="2400" dirty="0"/>
              <a:t>Elections ensure accountability and reflect identity politics.</a:t>
            </a: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Election plays an important role in Taiwan’s democratization.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Does election system or political culture shape voting behavior and party system?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Under external threat, will election help consolidate Taiwan democracy  or shatter it?</a:t>
            </a:r>
          </a:p>
          <a:p>
            <a:endParaRPr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92E18EE-8BD7-58D7-B4BA-DE2C5225B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Historical Roots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sz="2400" dirty="0"/>
              <a:t>Elections existed during Japanese colonial rule and early KMT rule but mainly at local levels.</a:t>
            </a:r>
            <a:endParaRPr lang="en-US" sz="2400" dirty="0"/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During Japanese colonization (1895–1945), Taiwan held its first local counselor elections in 1935, allowing male residents over 25 to vote for half of local assembly members in 9 cities.</a:t>
            </a:r>
          </a:p>
          <a:p>
            <a:pPr>
              <a:buFont typeface="Wingdings" pitchFamily="2" charset="2"/>
              <a:buChar char="Ø"/>
            </a:pPr>
            <a:r>
              <a:rPr lang="en-US" sz="2400" dirty="0"/>
              <a:t>The number of eligible Japanese and Taiwanese voters are 26,479 and 24,578, respectively.</a:t>
            </a:r>
          </a:p>
          <a:p>
            <a:pPr>
              <a:buFont typeface="Wingdings" pitchFamily="2" charset="2"/>
              <a:buChar char="Ø"/>
            </a:pPr>
            <a:r>
              <a:rPr lang="en" altLang="zh-TW" sz="2400" b="0" i="0" u="none" strike="noStrike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The elections were held again in 1939, but the 1943 election was canceled due to the Second World War.</a:t>
            </a:r>
          </a:p>
          <a:p>
            <a:endParaRPr lang="en-US" sz="2400" dirty="0"/>
          </a:p>
          <a:p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10F04B-16D6-42C0-FC0A-AA9D7F90D5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F4046F7-7CC0-9256-8E84-E07F20B02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Election History</a:t>
            </a:r>
            <a:endParaRPr kumimoji="1"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B9866F-A136-97B8-7A3A-701D24F0C5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>
              <a:lnSpc>
                <a:spcPct val="120000"/>
              </a:lnSpc>
            </a:pPr>
            <a:r>
              <a:rPr lang="en" altLang="zh-TW" sz="4300" b="1" dirty="0"/>
              <a:t>1935 – First local elections under Japanese rule</a:t>
            </a:r>
            <a:br>
              <a:rPr lang="en" altLang="zh-TW" sz="4300" dirty="0"/>
            </a:br>
            <a:r>
              <a:rPr lang="en" altLang="zh-TW" sz="4300" dirty="0"/>
              <a:t>Municipal and prefectural councils introduced; however, </a:t>
            </a:r>
            <a:r>
              <a:rPr lang="en" altLang="zh-TW" sz="4300" b="1" dirty="0"/>
              <a:t>suffrage limited to male taxpayers</a:t>
            </a:r>
            <a:r>
              <a:rPr lang="en" altLang="zh-TW" sz="4300" dirty="0"/>
              <a:t>, and many members were still appointed.</a:t>
            </a:r>
          </a:p>
          <a:p>
            <a:pPr>
              <a:lnSpc>
                <a:spcPct val="120000"/>
              </a:lnSpc>
            </a:pPr>
            <a:r>
              <a:rPr lang="en" altLang="zh-TW" sz="4300" b="1" dirty="0"/>
              <a:t>1947 – First national elections in the Republic of China</a:t>
            </a:r>
            <a:br>
              <a:rPr lang="en" altLang="zh-TW" sz="4300" dirty="0"/>
            </a:br>
            <a:r>
              <a:rPr lang="en" altLang="zh-TW" sz="4300" dirty="0"/>
              <a:t>Representatives elected to the </a:t>
            </a:r>
            <a:r>
              <a:rPr lang="en" altLang="zh-TW" sz="4300" b="1" dirty="0"/>
              <a:t>Legislative Yuan and National Assembly</a:t>
            </a:r>
            <a:r>
              <a:rPr lang="en" altLang="zh-TW" sz="4300" dirty="0"/>
              <a:t> before the KMT retreated to Taiwan.</a:t>
            </a:r>
          </a:p>
          <a:p>
            <a:pPr>
              <a:lnSpc>
                <a:spcPct val="120000"/>
              </a:lnSpc>
            </a:pPr>
            <a:r>
              <a:rPr lang="en" altLang="zh-TW" sz="4300" b="1" dirty="0"/>
              <a:t>1949–1987 – Martial law period</a:t>
            </a:r>
            <a:br>
              <a:rPr lang="en" altLang="zh-TW" sz="4300" dirty="0"/>
            </a:br>
            <a:r>
              <a:rPr lang="en" altLang="zh-TW" sz="4300" dirty="0"/>
              <a:t>National representatives elected in </a:t>
            </a:r>
            <a:r>
              <a:rPr lang="en" altLang="zh-TW" sz="4300" b="1" dirty="0"/>
              <a:t>1947 kept their seats indefinitely</a:t>
            </a:r>
            <a:r>
              <a:rPr lang="en" altLang="zh-TW" sz="4300" dirty="0"/>
              <a:t>, creating the so-called </a:t>
            </a:r>
            <a:r>
              <a:rPr lang="en" altLang="zh-TW" sz="4300" b="1" dirty="0"/>
              <a:t>“Ten-Thousand-Year Parliament.”</a:t>
            </a:r>
            <a:endParaRPr lang="en" altLang="zh-TW" sz="4300" dirty="0"/>
          </a:p>
          <a:p>
            <a:pPr>
              <a:lnSpc>
                <a:spcPct val="120000"/>
              </a:lnSpc>
            </a:pPr>
            <a:r>
              <a:rPr lang="en" altLang="zh-TW" sz="4300" b="1" dirty="0"/>
              <a:t>1950 – Regular local elections introduced in Taiwan</a:t>
            </a:r>
            <a:br>
              <a:rPr lang="en" altLang="zh-TW" sz="4300" dirty="0"/>
            </a:br>
            <a:r>
              <a:rPr lang="en" altLang="zh-TW" sz="4300" dirty="0"/>
              <a:t>Elections held for </a:t>
            </a:r>
            <a:r>
              <a:rPr lang="en" altLang="zh-TW" sz="4300" b="1" dirty="0"/>
              <a:t>county magistrates, mayors, township chiefs, and local councils</a:t>
            </a:r>
            <a:r>
              <a:rPr lang="en" altLang="zh-TW" sz="4300" dirty="0"/>
              <a:t>.</a:t>
            </a:r>
          </a:p>
          <a:p>
            <a:pPr>
              <a:lnSpc>
                <a:spcPct val="120000"/>
              </a:lnSpc>
            </a:pPr>
            <a:r>
              <a:rPr lang="en" altLang="zh-TW" sz="4300" b="1" dirty="0"/>
              <a:t>Opposition participation through local elections</a:t>
            </a:r>
            <a:br>
              <a:rPr lang="en" altLang="zh-TW" sz="4300" dirty="0"/>
            </a:br>
            <a:r>
              <a:rPr lang="en" altLang="zh-TW" sz="4300" dirty="0"/>
              <a:t>Non-KMT candidates (later called the </a:t>
            </a:r>
            <a:r>
              <a:rPr lang="en" altLang="zh-TW" sz="4300" b="1" dirty="0" err="1"/>
              <a:t>Tangwai</a:t>
            </a:r>
            <a:r>
              <a:rPr lang="en" altLang="zh-TW" sz="4300" b="1" dirty="0"/>
              <a:t> movement</a:t>
            </a:r>
            <a:r>
              <a:rPr lang="en" altLang="zh-TW" sz="4300" dirty="0"/>
              <a:t>) began winning local offices in the </a:t>
            </a:r>
            <a:r>
              <a:rPr lang="en" altLang="zh-TW" sz="4300" b="1" dirty="0"/>
              <a:t>1960s–1980s</a:t>
            </a:r>
            <a:r>
              <a:rPr lang="en" altLang="zh-TW" sz="4300" dirty="0"/>
              <a:t>.</a:t>
            </a:r>
          </a:p>
          <a:p>
            <a:pPr>
              <a:lnSpc>
                <a:spcPct val="120000"/>
              </a:lnSpc>
            </a:pPr>
            <a:r>
              <a:rPr lang="en" altLang="zh-TW" sz="4300" b="1" dirty="0"/>
              <a:t>By the 1980s:</a:t>
            </a:r>
            <a:r>
              <a:rPr lang="en" altLang="zh-TW" sz="4300" dirty="0"/>
              <a:t> Taiwan had </a:t>
            </a:r>
            <a:r>
              <a:rPr lang="en" altLang="zh-TW" sz="4300" b="1" dirty="0"/>
              <a:t>decades of electoral experience at the local level</a:t>
            </a:r>
            <a:r>
              <a:rPr lang="en" altLang="zh-TW" sz="4300" dirty="0"/>
              <a:t>, which helped facilitate </a:t>
            </a:r>
            <a:r>
              <a:rPr lang="en" altLang="zh-TW" sz="4300" b="1" dirty="0"/>
              <a:t>democratic transition after martial law ended in 1987</a:t>
            </a:r>
            <a:r>
              <a:rPr lang="en" altLang="zh-TW" sz="4300" dirty="0"/>
              <a:t>.</a:t>
            </a:r>
          </a:p>
          <a:p>
            <a:endParaRPr kumimoji="1"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A47260E-8BB5-C80A-F8A8-94218033F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678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Elections and Democratization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dirty="0"/>
              <a:t>Local elections served as a safety valve allowing limited opposition competition.</a:t>
            </a:r>
            <a:endParaRPr lang="en-US" dirty="0"/>
          </a:p>
          <a:p>
            <a:r>
              <a:rPr lang="en-US" dirty="0"/>
              <a:t>Once elected, the opposition activists challenged the KMT’s authoritarian regime.</a:t>
            </a:r>
          </a:p>
          <a:p>
            <a:r>
              <a:rPr lang="en-US" dirty="0"/>
              <a:t>In 1951, Kuo Yu-shin (</a:t>
            </a:r>
            <a:r>
              <a:rPr lang="en-US" dirty="0" err="1"/>
              <a:t>郭雨新</a:t>
            </a:r>
            <a:r>
              <a:rPr lang="en-US" dirty="0"/>
              <a:t>) was elected as the first non-KMT Provincial Assembly Member.</a:t>
            </a:r>
          </a:p>
          <a:p>
            <a:r>
              <a:rPr lang="en-US" dirty="0"/>
              <a:t>In 1960, Yu Den-fa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lang="zh-TW" altLang="en-US" dirty="0"/>
              <a:t>余登發</a:t>
            </a:r>
            <a:r>
              <a:rPr lang="en-US" altLang="zh-TW" dirty="0"/>
              <a:t>)</a:t>
            </a:r>
            <a:r>
              <a:rPr lang="en-US" dirty="0"/>
              <a:t>, was elected as the Kaohsiung County mayor.  He was suspended and arrested later.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AF8093-8B3D-9E82-0BAC-B02F6386A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336719-ABF1-D422-5295-FCEFD7EF6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Chung-li Incident</a:t>
            </a:r>
            <a:r>
              <a:rPr kumimoji="1" lang="zh-TW" altLang="en-US" dirty="0"/>
              <a:t> </a:t>
            </a:r>
            <a:r>
              <a:rPr kumimoji="1" lang="en-US" altLang="zh-TW" dirty="0"/>
              <a:t>(1977)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2EDB107-8C2C-782C-E027-3E545803F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DFB31D0-E684-D9D7-18F4-3B8A3023A8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597" y="1579344"/>
            <a:ext cx="6977248" cy="461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4855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2D4311BD-FDEB-21B3-78B2-FD4C672DB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Ciaotao</a:t>
            </a:r>
            <a:r>
              <a:rPr lang="en-US" altLang="zh-TW" dirty="0"/>
              <a:t> Rally (1979)</a:t>
            </a:r>
            <a:endParaRPr lang="zh-TW" altLang="en-US" dirty="0"/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D73C88E8-7734-1C75-B45F-57847B77F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B56E2D16-230A-E24A-1E05-CC5DB13B9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9002BB28-7DE0-4F02-EE3C-6936EF3D7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12429"/>
            <a:ext cx="7772400" cy="4723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3499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0EAD6C-4B3A-5430-C841-75D2C9A70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Formosa Incident (1979)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DD4DEAA-948B-588D-3399-5E4BDD98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CD54E08-A2AD-B8D1-BB07-3813F49EEB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090" y="1349759"/>
            <a:ext cx="7772400" cy="5074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93204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8DFFEB-A851-AAEF-2C9D-74E928EB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TW" dirty="0"/>
              <a:t>DPP founded (1986)</a:t>
            </a:r>
            <a:endParaRPr kumimoji="1"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562209D-4D50-985D-9699-C7B0077C3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C4F20DF-B0CD-775E-1C53-775D830BB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1244" y="1697038"/>
            <a:ext cx="6933763" cy="465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091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Turning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Ø"/>
            </a:pPr>
            <a:r>
              <a:rPr sz="2400" dirty="0"/>
              <a:t>1992 Legislative Yuan reelection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" sz="2400" dirty="0"/>
              <a:t>Taiwan held the first full reelection of the Legislative Yuan, replacing mainland-elected representatives and defining the status quo of a democratic Taiwan, distinct from the PRC.</a:t>
            </a:r>
            <a:endParaRPr sz="2400" dirty="0"/>
          </a:p>
          <a:p>
            <a:pPr>
              <a:buFont typeface="Wingdings" pitchFamily="2" charset="2"/>
              <a:buChar char="Ø"/>
            </a:pPr>
            <a:r>
              <a:rPr sz="2400" dirty="0"/>
              <a:t>1996 first direct presidential election</a:t>
            </a:r>
            <a:r>
              <a:rPr lang="en-US" sz="2400" dirty="0"/>
              <a:t>: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It </a:t>
            </a:r>
            <a:r>
              <a:rPr lang="en" sz="2400" dirty="0"/>
              <a:t>symbolizes democratic sovereignty and presidential system.</a:t>
            </a:r>
            <a:endParaRPr sz="2400" dirty="0"/>
          </a:p>
          <a:p>
            <a:pPr>
              <a:buFont typeface="Wingdings" pitchFamily="2" charset="2"/>
              <a:buChar char="Ø"/>
            </a:pPr>
            <a:r>
              <a:rPr sz="2400" dirty="0"/>
              <a:t>2000 peaceful power transition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r>
              <a:rPr lang="en" sz="2400" dirty="0"/>
              <a:t>The victory of Chen Shui-bian (DPP) ended decades of Kuomintang rule and marked Taiwan’s first peaceful transfer of power between parties.</a:t>
            </a:r>
            <a:endParaRPr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7289CF-38B5-CF24-51F9-638FA22C8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70DED-CDA6-E665-DE5F-5BFB20121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514C0-A314-5F68-23C8-F63701723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Election Issues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02A71-9A05-85CF-ACC4-4B8B26C6E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sz="2400" dirty="0"/>
              <a:t>After DPP was established, democratization issue (reform vs. social order) was replaced by national identity (independence vs. unification).</a:t>
            </a:r>
          </a:p>
          <a:p>
            <a:r>
              <a:rPr lang="en-US" altLang="zh-TW" sz="2400" dirty="0"/>
              <a:t>The DPP promoted the idea of self-determination, claiming to represent the indigenous Taiwanese.</a:t>
            </a:r>
          </a:p>
          <a:p>
            <a:r>
              <a:rPr lang="en-US" altLang="zh-TW" sz="2400" dirty="0"/>
              <a:t>The KMT insisted on continuation of Republic of China, calling the DPP the separationists.</a:t>
            </a:r>
          </a:p>
          <a:p>
            <a:r>
              <a:rPr lang="en-US" altLang="zh-TW" sz="2400" dirty="0"/>
              <a:t>Environmental protection, labor, anti-nuclear power, woman rights, and unemployment issues were not prioritized. </a:t>
            </a:r>
          </a:p>
          <a:p>
            <a:endParaRPr lang="en-US" altLang="zh-TW" sz="2400" dirty="0"/>
          </a:p>
          <a:p>
            <a:endParaRPr lang="en-US" altLang="zh-TW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D3A597-534F-857F-209A-61BADA50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417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Electoral Participation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Since Taiwan is young democracy, Taiwanese people are interested in politics.</a:t>
            </a:r>
          </a:p>
          <a:p>
            <a:r>
              <a:rPr lang="en-US" sz="2400" dirty="0"/>
              <a:t>Due to the high competitiveness, the turnout rates in the presidential election are around 70 percent. The lowest one occurred in 2016.</a:t>
            </a:r>
          </a:p>
          <a:p>
            <a:r>
              <a:rPr lang="en-US" sz="2400" dirty="0"/>
              <a:t>The turnout rates in the county/city mayoral elections are around 60 percent. </a:t>
            </a:r>
          </a:p>
          <a:p>
            <a:r>
              <a:rPr lang="en-US" sz="2400" dirty="0"/>
              <a:t>Because there is no absentee vote, many of young voters have to travel back to their hometown to vote.</a:t>
            </a:r>
          </a:p>
          <a:p>
            <a:r>
              <a:rPr lang="en-US" sz="2400" dirty="0"/>
              <a:t>Voting Day is scheduled on Saturday, but many people still work.</a:t>
            </a:r>
          </a:p>
          <a:p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756ED8-AC82-FC88-23C6-C447B98D1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B3F7E54E-CE73-141F-6E77-E4816F183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Turnout Rates in Presidential Elections</a:t>
            </a:r>
            <a:endParaRPr lang="zh-TW" altLang="en-US" dirty="0"/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A4E5D56B-1E87-DDE5-951D-5349A60EA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1F7EEF02-323B-4AB9-50F8-3DACC048A2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11352"/>
            <a:ext cx="7793343" cy="4351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52378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Party System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After a series of legislative and local elections, the DPP became the major party. The presidential system fosters Taiwan’s two-party system.</a:t>
            </a:r>
          </a:p>
          <a:p>
            <a:r>
              <a:rPr lang="en-US" sz="2400" dirty="0"/>
              <a:t>Some third parties like New Party, People’s First Party (PFP, James Soong) and New Power Party (NPP, </a:t>
            </a:r>
            <a:r>
              <a:rPr lang="en-US" sz="2400" dirty="0" err="1"/>
              <a:t>Kuo-chang</a:t>
            </a:r>
            <a:r>
              <a:rPr lang="en-US" sz="2400" dirty="0"/>
              <a:t> Huang) emerged, they cannot compete against DPP or KMT in the presidential election. </a:t>
            </a:r>
          </a:p>
          <a:p>
            <a:r>
              <a:rPr lang="en-US" sz="2400" dirty="0"/>
              <a:t>Taiwan People’s Party (TPP, Ko Wen-je) was founded in 2020. Ko almost won the second place in the 2024 presidential election.</a:t>
            </a:r>
          </a:p>
          <a:p>
            <a:r>
              <a:rPr lang="en-US" sz="2400" dirty="0"/>
              <a:t>People may sincerely vote, but the two major parties have much more resources.</a:t>
            </a:r>
          </a:p>
          <a:p>
            <a:endParaRPr lang="en-US" sz="24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9756ED8-AC82-FC88-23C6-C447B98D1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57195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45B2A91C-E5B6-86D2-634E-9033F3868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6D5336C7-EFEF-4F4E-8CBC-C9D1679C4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784412"/>
            <a:ext cx="9055555" cy="5238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250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Party Machines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mobilization through organization, data, and grassroots networks.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3D50AD3-4DF7-6703-E891-BCBB37BA6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Local Factions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/>
              <a:t>Local elites mobilize voters through long‑term reciprocity networks.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B1D4ADE-D46B-8AB0-4078-B0A77ED0A4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People Vote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Urban ideological voting vs rural network voting.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0EB925-5352-FC35-9548-FE91DA779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Party Identification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Pan‑Blue vs Pan‑Green divide and rise of the Third Force.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64560C5-848C-25B8-56E4-A0A761BBB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Candidate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Primaries using polls and party member votes; parachute vs local candidates.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B2EAD2A-791A-0611-410F-99CE4A9649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Taiwan elections combine modern democratic institutions with deep political culture.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6B51BFC-3A1A-322F-DADF-2596ECDA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Taiwan Election Timeline</a:t>
            </a:r>
          </a:p>
        </p:txBody>
      </p:sp>
      <p:pic>
        <p:nvPicPr>
          <p:cNvPr id="3" name="Picture 2" descr="taiwan_electio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522586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2992DDB-2384-0548-491F-1B8C2D31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Blue–Green Regional Voting Pattern</a:t>
            </a:r>
          </a:p>
        </p:txBody>
      </p:sp>
      <p:pic>
        <p:nvPicPr>
          <p:cNvPr id="3" name="Picture 2" descr="taiwan_blue_green_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922448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E87A9C8-7F10-254A-934B-C15F9C102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Presidential Election Turnout</a:t>
            </a:r>
          </a:p>
        </p:txBody>
      </p:sp>
      <p:pic>
        <p:nvPicPr>
          <p:cNvPr id="3" name="Picture 2" descr="taiwan_turnout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7315200" cy="5798634"/>
          </a:xfrm>
          <a:prstGeom prst="rect">
            <a:avLst/>
          </a:prstGeom>
        </p:spPr>
      </p:pic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F7BE8CC-F136-928F-04C8-BD8A99662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t>Rigger, Shelley. 1999. Politics in Taiwan.</a:t>
            </a:r>
          </a:p>
          <a:p>
            <a:r>
              <a:t>Fell, Dafydd. 2018. Government and Politics in Taiwan.</a:t>
            </a:r>
          </a:p>
          <a:p>
            <a:r>
              <a:t>Chu, Yun-han and Lin, Jih-wen. 2001. Political Development in Taiwan.</a:t>
            </a:r>
          </a:p>
          <a:p>
            <a:r>
              <a:t>Hsieh, John Fuh-sheng. 2005. Ethnicity, National Identity, and Domestic Politics in Taiwan.</a:t>
            </a:r>
          </a:p>
          <a:p>
            <a:r>
              <a:t>Stockton, Hans. 2008. Political Change in Taiwan.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3006187-BA24-7FC8-B598-BAB43DA9D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671</TotalTime>
  <Words>960</Words>
  <Application>Microsoft Macintosh PowerPoint</Application>
  <PresentationFormat>如螢幕大小 (4:3)</PresentationFormat>
  <Paragraphs>101</Paragraphs>
  <Slides>25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25</vt:i4>
      </vt:variant>
    </vt:vector>
  </HeadingPairs>
  <TitlesOfParts>
    <vt:vector size="29" baseType="lpstr">
      <vt:lpstr>Arial</vt:lpstr>
      <vt:lpstr>Calibri</vt:lpstr>
      <vt:lpstr>Wingdings</vt:lpstr>
      <vt:lpstr>Office Theme</vt:lpstr>
      <vt:lpstr>Taiwan’s Elections and Democratization</vt:lpstr>
      <vt:lpstr>Why Taiwan’s Elections Matter</vt:lpstr>
      <vt:lpstr>Historical Roots</vt:lpstr>
      <vt:lpstr>Election History</vt:lpstr>
      <vt:lpstr>Elections and Democratization</vt:lpstr>
      <vt:lpstr>Chung-li Incident (1977)</vt:lpstr>
      <vt:lpstr>Ciaotao Rally (1979)</vt:lpstr>
      <vt:lpstr>Formosa Incident (1979)</vt:lpstr>
      <vt:lpstr>DPP founded (1986)</vt:lpstr>
      <vt:lpstr>Turning Points</vt:lpstr>
      <vt:lpstr>Election Issues</vt:lpstr>
      <vt:lpstr>Electoral Participation</vt:lpstr>
      <vt:lpstr>Turnout Rates in Presidential Elections</vt:lpstr>
      <vt:lpstr>Party System</vt:lpstr>
      <vt:lpstr>PowerPoint 簡報</vt:lpstr>
      <vt:lpstr>Party Machines</vt:lpstr>
      <vt:lpstr>Local Factions</vt:lpstr>
      <vt:lpstr>How People Vote</vt:lpstr>
      <vt:lpstr>Party Identification</vt:lpstr>
      <vt:lpstr>Candidate Selection</vt:lpstr>
      <vt:lpstr>Conclusion</vt:lpstr>
      <vt:lpstr>Taiwan Election Timeline</vt:lpstr>
      <vt:lpstr>Blue–Green Regional Voting Pattern</vt:lpstr>
      <vt:lpstr>Presidential Election Turnout</vt:lpstr>
      <vt:lpstr>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Taiwan’s Elections and Democratization</dc:title>
  <dc:subject/>
  <dc:creator/>
  <cp:keywords/>
  <dc:description>generated using python-pptx</dc:description>
  <cp:lastModifiedBy>CHT</cp:lastModifiedBy>
  <cp:revision>13</cp:revision>
  <cp:lastPrinted>2026-03-26T05:49:56Z</cp:lastPrinted>
  <dcterms:created xsi:type="dcterms:W3CDTF">2013-01-27T09:14:16Z</dcterms:created>
  <dcterms:modified xsi:type="dcterms:W3CDTF">2026-03-26T05:50:53Z</dcterms:modified>
  <cp:category/>
</cp:coreProperties>
</file>