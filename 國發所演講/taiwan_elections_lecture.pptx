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9"/>
  </p:notesMasterIdLst>
  <p:sldIdLst>
    <p:sldId id="273" r:id="rId2"/>
    <p:sldId id="282" r:id="rId3"/>
    <p:sldId id="257" r:id="rId4"/>
    <p:sldId id="258" r:id="rId5"/>
    <p:sldId id="272" r:id="rId6"/>
    <p:sldId id="260" r:id="rId7"/>
    <p:sldId id="277" r:id="rId8"/>
    <p:sldId id="276" r:id="rId9"/>
    <p:sldId id="278" r:id="rId10"/>
    <p:sldId id="279" r:id="rId11"/>
    <p:sldId id="259" r:id="rId12"/>
    <p:sldId id="280" r:id="rId13"/>
    <p:sldId id="261" r:id="rId14"/>
    <p:sldId id="275" r:id="rId15"/>
    <p:sldId id="281" r:id="rId16"/>
    <p:sldId id="274" r:id="rId17"/>
    <p:sldId id="265" r:id="rId18"/>
    <p:sldId id="262" r:id="rId19"/>
    <p:sldId id="263" r:id="rId20"/>
    <p:sldId id="266" r:id="rId21"/>
    <p:sldId id="283" r:id="rId22"/>
    <p:sldId id="284" r:id="rId23"/>
    <p:sldId id="285" r:id="rId24"/>
    <p:sldId id="286" r:id="rId25"/>
    <p:sldId id="288" r:id="rId26"/>
    <p:sldId id="267" r:id="rId27"/>
    <p:sldId id="271"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03"/>
  </p:normalViewPr>
  <p:slideViewPr>
    <p:cSldViewPr snapToGrid="0" snapToObjects="1">
      <p:cViewPr varScale="1">
        <p:scale>
          <a:sx n="100" d="100"/>
          <a:sy n="100" d="100"/>
        </p:scale>
        <p:origin x="1960"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C94993-66F3-0048-A878-2D21CC69B38E}" type="datetimeFigureOut">
              <a:rPr kumimoji="1" lang="zh-TW" altLang="en-US" smtClean="0"/>
              <a:t>2026/3/16</a:t>
            </a:fld>
            <a:endParaRPr kumimoji="1"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B39E87-EEEA-1642-9F4A-75752D21CD63}" type="slidenum">
              <a:rPr kumimoji="1" lang="zh-TW" altLang="en-US" smtClean="0"/>
              <a:t>‹#›</a:t>
            </a:fld>
            <a:endParaRPr kumimoji="1" lang="zh-TW" altLang="en-US"/>
          </a:p>
        </p:txBody>
      </p:sp>
    </p:spTree>
    <p:extLst>
      <p:ext uri="{BB962C8B-B14F-4D97-AF65-F5344CB8AC3E}">
        <p14:creationId xmlns:p14="http://schemas.microsoft.com/office/powerpoint/2010/main" val="4146536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0DA3300-FD17-E64B-85D3-9CA7A93BBB9D}" type="datetime1">
              <a:rPr lang="zh-TW" altLang="en-US" smtClean="0"/>
              <a:t>2026/3/16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9B1ECD-9B94-CD46-8598-2AD8799412EA}" type="datetime1">
              <a:rPr lang="zh-TW" altLang="en-US" smtClean="0"/>
              <a:t>2026/3/16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5DFC9D-5689-B44F-9A08-E557A13175D1}" type="datetime1">
              <a:rPr lang="zh-TW" altLang="en-US" smtClean="0"/>
              <a:t>2026/3/16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BE83D4-DD83-3E47-AA61-F040D5D9B9B9}" type="datetime1">
              <a:rPr lang="zh-TW" altLang="en-US" smtClean="0"/>
              <a:t>2026/3/16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0DD6E2-01AB-8D43-A5A7-AEADD8B58E79}" type="datetime1">
              <a:rPr lang="zh-TW" altLang="en-US" smtClean="0"/>
              <a:t>2026/3/16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0F7EC8-6E2A-694A-BEE9-4E5B3BC61910}" type="datetime1">
              <a:rPr lang="zh-TW" altLang="en-US" smtClean="0"/>
              <a:t>2026/3/16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863947-9BF6-0B48-952F-74A6328FB885}" type="datetime1">
              <a:rPr lang="zh-TW" altLang="en-US" smtClean="0"/>
              <a:t>2026/3/16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B0D198-C65C-C949-A5EB-9349C83426E3}" type="datetime1">
              <a:rPr lang="zh-TW" altLang="en-US" smtClean="0"/>
              <a:t>2026/3/16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6E11A4-0DCC-424E-B849-E6E18A3CE488}" type="datetime1">
              <a:rPr lang="zh-TW" altLang="en-US" smtClean="0"/>
              <a:t>2026/3/16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06495C-95D2-424D-B6B1-4EDAD22E2F57}" type="datetime1">
              <a:rPr lang="zh-TW" altLang="en-US" smtClean="0"/>
              <a:t>2026/3/16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8DA6E3-EC9F-5544-A925-20D173FB7322}" type="datetime1">
              <a:rPr lang="zh-TW" altLang="en-US" smtClean="0"/>
              <a:t>2026/3/16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2E6136-4253-B441-819B-E17D162E7AA8}" type="datetime1">
              <a:rPr lang="zh-TW" altLang="en-US" smtClean="0"/>
              <a:t>2026/3/16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2C581A-6C2F-AD9D-C1C1-1AB102186A1D}"/>
              </a:ext>
            </a:extLst>
          </p:cNvPr>
          <p:cNvSpPr>
            <a:spLocks noGrp="1"/>
          </p:cNvSpPr>
          <p:nvPr>
            <p:ph type="ctrTitle"/>
          </p:nvPr>
        </p:nvSpPr>
        <p:spPr/>
        <p:txBody>
          <a:bodyPr/>
          <a:lstStyle/>
          <a:p>
            <a:r>
              <a:rPr lang="en" altLang="zh-TW" dirty="0"/>
              <a:t>Taiwan’s Elections and Democratization</a:t>
            </a:r>
            <a:endParaRPr kumimoji="1" lang="zh-TW" altLang="en-US" dirty="0"/>
          </a:p>
        </p:txBody>
      </p:sp>
      <p:sp>
        <p:nvSpPr>
          <p:cNvPr id="3" name="副標題 2">
            <a:extLst>
              <a:ext uri="{FF2B5EF4-FFF2-40B4-BE49-F238E27FC236}">
                <a16:creationId xmlns:a16="http://schemas.microsoft.com/office/drawing/2014/main" id="{AEF7CA06-3E3E-80FE-F2CC-AD4571FE849C}"/>
              </a:ext>
            </a:extLst>
          </p:cNvPr>
          <p:cNvSpPr>
            <a:spLocks noGrp="1"/>
          </p:cNvSpPr>
          <p:nvPr>
            <p:ph type="subTitle" idx="1"/>
          </p:nvPr>
        </p:nvSpPr>
        <p:spPr/>
        <p:txBody>
          <a:bodyPr>
            <a:normAutofit/>
          </a:bodyPr>
          <a:lstStyle/>
          <a:p>
            <a:r>
              <a:rPr kumimoji="1" lang="en-US" altLang="zh-TW" sz="2400" dirty="0">
                <a:solidFill>
                  <a:schemeClr val="tx1"/>
                </a:solidFill>
              </a:rPr>
              <a:t>Chia-hung Tsai</a:t>
            </a:r>
          </a:p>
          <a:p>
            <a:r>
              <a:rPr kumimoji="1" lang="en-US" altLang="zh-TW" sz="2400" dirty="0">
                <a:solidFill>
                  <a:schemeClr val="tx1"/>
                </a:solidFill>
              </a:rPr>
              <a:t>Election Study Center</a:t>
            </a:r>
          </a:p>
          <a:p>
            <a:r>
              <a:rPr kumimoji="1" lang="en-US" altLang="zh-TW" sz="2400" dirty="0">
                <a:solidFill>
                  <a:schemeClr val="tx1"/>
                </a:solidFill>
              </a:rPr>
              <a:t>March 26, 2026</a:t>
            </a:r>
            <a:endParaRPr kumimoji="1" lang="zh-TW" altLang="en-US" sz="2400" dirty="0">
              <a:solidFill>
                <a:schemeClr val="tx1"/>
              </a:solidFill>
            </a:endParaRPr>
          </a:p>
        </p:txBody>
      </p:sp>
    </p:spTree>
    <p:extLst>
      <p:ext uri="{BB962C8B-B14F-4D97-AF65-F5344CB8AC3E}">
        <p14:creationId xmlns:p14="http://schemas.microsoft.com/office/powerpoint/2010/main" val="1435381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A8CBDC-D3A8-2601-8467-100C1217430E}"/>
              </a:ext>
            </a:extLst>
          </p:cNvPr>
          <p:cNvSpPr>
            <a:spLocks noGrp="1"/>
          </p:cNvSpPr>
          <p:nvPr>
            <p:ph type="sldNum" sz="quarter" idx="12"/>
          </p:nvPr>
        </p:nvSpPr>
        <p:spPr/>
        <p:txBody>
          <a:bodyPr/>
          <a:lstStyle/>
          <a:p>
            <a:fld id="{C1FF6DA9-008F-8B48-92A6-B652298478BF}" type="slidenum">
              <a:rPr lang="en-US" smtClean="0"/>
              <a:t>2</a:t>
            </a:fld>
            <a:endParaRPr lang="en-US"/>
          </a:p>
        </p:txBody>
      </p:sp>
      <p:pic>
        <p:nvPicPr>
          <p:cNvPr id="5" name="Picture 4">
            <a:extLst>
              <a:ext uri="{FF2B5EF4-FFF2-40B4-BE49-F238E27FC236}">
                <a16:creationId xmlns:a16="http://schemas.microsoft.com/office/drawing/2014/main" id="{47ED8682-7F13-33A9-F29A-6F2CC70BB76D}"/>
              </a:ext>
            </a:extLst>
          </p:cNvPr>
          <p:cNvPicPr>
            <a:picLocks noChangeAspect="1"/>
          </p:cNvPicPr>
          <p:nvPr/>
        </p:nvPicPr>
        <p:blipFill>
          <a:blip r:embed="rId2"/>
          <a:stretch>
            <a:fillRect/>
          </a:stretch>
        </p:blipFill>
        <p:spPr>
          <a:xfrm>
            <a:off x="685800" y="1290526"/>
            <a:ext cx="7772400" cy="3829714"/>
          </a:xfrm>
          <a:prstGeom prst="rect">
            <a:avLst/>
          </a:prstGeom>
        </p:spPr>
      </p:pic>
    </p:spTree>
    <p:extLst>
      <p:ext uri="{BB962C8B-B14F-4D97-AF65-F5344CB8AC3E}">
        <p14:creationId xmlns:p14="http://schemas.microsoft.com/office/powerpoint/2010/main" val="2835989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Taiwan’s Elections Matter</a:t>
            </a:r>
          </a:p>
        </p:txBody>
      </p:sp>
      <p:sp>
        <p:nvSpPr>
          <p:cNvPr id="3" name="Content Placeholder 2"/>
          <p:cNvSpPr>
            <a:spLocks noGrp="1"/>
          </p:cNvSpPr>
          <p:nvPr>
            <p:ph idx="1"/>
          </p:nvPr>
        </p:nvSpPr>
        <p:spPr/>
        <p:txBody>
          <a:bodyPr>
            <a:normAutofit/>
          </a:bodyPr>
          <a:lstStyle/>
          <a:p>
            <a:pPr>
              <a:buFont typeface="Wingdings" pitchFamily="2" charset="2"/>
              <a:buChar char="Ø"/>
            </a:pPr>
            <a:r>
              <a:rPr sz="2400" dirty="0"/>
              <a:t>Taiwan is one of the most vibrant democracies in East Asia.</a:t>
            </a:r>
            <a:endParaRPr lang="en-US" sz="2400" dirty="0"/>
          </a:p>
          <a:p>
            <a:pPr>
              <a:buFont typeface="Arial" panose="020B0604020202020204" pitchFamily="34" charset="0"/>
              <a:buChar char="•"/>
            </a:pPr>
            <a:r>
              <a:rPr lang="en-US" sz="2400" dirty="0"/>
              <a:t>According to Huntington’s theory, Taiwan is the third-wave democracy with two party turnover</a:t>
            </a:r>
            <a:endParaRPr sz="2400" dirty="0"/>
          </a:p>
          <a:p>
            <a:pPr>
              <a:buFont typeface="Wingdings" pitchFamily="2" charset="2"/>
              <a:buChar char="Ø"/>
            </a:pPr>
            <a:r>
              <a:rPr sz="2400" dirty="0"/>
              <a:t>Elections ensure accountability and reflect identity politics.</a:t>
            </a:r>
            <a:endParaRPr lang="en-US" sz="2400" dirty="0"/>
          </a:p>
          <a:p>
            <a:pPr>
              <a:buFont typeface="Wingdings" pitchFamily="2" charset="2"/>
              <a:buChar char="Ø"/>
            </a:pPr>
            <a:r>
              <a:rPr lang="en-US" sz="2400" dirty="0"/>
              <a:t>Election plays an important role in Taiwan’s democratization.</a:t>
            </a:r>
          </a:p>
          <a:p>
            <a:pPr>
              <a:buFont typeface="Wingdings" pitchFamily="2" charset="2"/>
              <a:buChar char="Ø"/>
            </a:pPr>
            <a:r>
              <a:rPr lang="en-US" sz="2400" dirty="0"/>
              <a:t>Does election system or political culture shape voting behavior and party system?</a:t>
            </a:r>
          </a:p>
          <a:p>
            <a:pPr>
              <a:buFont typeface="Wingdings" pitchFamily="2" charset="2"/>
              <a:buChar char="Ø"/>
            </a:pPr>
            <a:r>
              <a:rPr lang="en-US" sz="2400" dirty="0"/>
              <a:t>Under external threat, will election help consolidate Taiwan democracy  or shatter it?</a:t>
            </a:r>
          </a:p>
          <a:p>
            <a:endParaRPr sz="2400" dirty="0"/>
          </a:p>
        </p:txBody>
      </p:sp>
      <p:sp>
        <p:nvSpPr>
          <p:cNvPr id="4" name="投影片編號版面配置區 3">
            <a:extLst>
              <a:ext uri="{FF2B5EF4-FFF2-40B4-BE49-F238E27FC236}">
                <a16:creationId xmlns:a16="http://schemas.microsoft.com/office/drawing/2014/main" id="{F92E18EE-8BD7-58D7-B4BA-DE2C5225BE16}"/>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Historical Roots</a:t>
            </a:r>
          </a:p>
        </p:txBody>
      </p:sp>
      <p:sp>
        <p:nvSpPr>
          <p:cNvPr id="3" name="Content Placeholder 2"/>
          <p:cNvSpPr>
            <a:spLocks noGrp="1"/>
          </p:cNvSpPr>
          <p:nvPr>
            <p:ph idx="1"/>
          </p:nvPr>
        </p:nvSpPr>
        <p:spPr/>
        <p:txBody>
          <a:bodyPr>
            <a:normAutofit/>
          </a:bodyPr>
          <a:lstStyle/>
          <a:p>
            <a:pPr>
              <a:buFont typeface="Wingdings" pitchFamily="2" charset="2"/>
              <a:buChar char="Ø"/>
            </a:pPr>
            <a:r>
              <a:rPr sz="2400" dirty="0"/>
              <a:t>Elections existed during Japanese colonial rule and early KMT rule but mainly at local levels.</a:t>
            </a:r>
            <a:endParaRPr lang="en-US" sz="2400" dirty="0"/>
          </a:p>
          <a:p>
            <a:pPr>
              <a:buFont typeface="Wingdings" pitchFamily="2" charset="2"/>
              <a:buChar char="Ø"/>
            </a:pPr>
            <a:r>
              <a:rPr lang="en-US" sz="2400" dirty="0"/>
              <a:t>During Japanese colonization (1895–1945), Taiwan held its first local counselor elections in 1935, allowing male residents over 25 to vote for half of local assembly members in 9 cities.</a:t>
            </a:r>
          </a:p>
          <a:p>
            <a:pPr>
              <a:buFont typeface="Wingdings" pitchFamily="2" charset="2"/>
              <a:buChar char="Ø"/>
            </a:pPr>
            <a:r>
              <a:rPr lang="en-US" sz="2400" dirty="0"/>
              <a:t>The number of eligible Japanese and Taiwanese voters are 26,479 and 24,578, respectively.</a:t>
            </a:r>
          </a:p>
          <a:p>
            <a:pPr>
              <a:buFont typeface="Wingdings" pitchFamily="2" charset="2"/>
              <a:buChar char="Ø"/>
            </a:pPr>
            <a:r>
              <a:rPr lang="en" altLang="zh-TW" sz="2400" b="0" i="0" u="none" strike="noStrike" dirty="0">
                <a:solidFill>
                  <a:srgbClr val="202122"/>
                </a:solidFill>
                <a:effectLst/>
                <a:latin typeface="Arial" panose="020B0604020202020204" pitchFamily="34" charset="0"/>
              </a:rPr>
              <a:t>The elections were held again in 1939, but the 1943 election was canceled due to the Second World War.</a:t>
            </a:r>
          </a:p>
          <a:p>
            <a:endParaRPr lang="en-US" sz="2400" dirty="0"/>
          </a:p>
          <a:p>
            <a:endParaRPr dirty="0"/>
          </a:p>
        </p:txBody>
      </p:sp>
      <p:sp>
        <p:nvSpPr>
          <p:cNvPr id="4" name="投影片編號版面配置區 3">
            <a:extLst>
              <a:ext uri="{FF2B5EF4-FFF2-40B4-BE49-F238E27FC236}">
                <a16:creationId xmlns:a16="http://schemas.microsoft.com/office/drawing/2014/main" id="{4210F04B-16D6-42C0-FC0A-AA9D7F90D5B8}"/>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4046F7-7CC0-9256-8E84-E07F20B0264E}"/>
              </a:ext>
            </a:extLst>
          </p:cNvPr>
          <p:cNvSpPr>
            <a:spLocks noGrp="1"/>
          </p:cNvSpPr>
          <p:nvPr>
            <p:ph type="title"/>
          </p:nvPr>
        </p:nvSpPr>
        <p:spPr/>
        <p:txBody>
          <a:bodyPr/>
          <a:lstStyle/>
          <a:p>
            <a:r>
              <a:rPr kumimoji="1" lang="en-US" altLang="zh-TW" dirty="0"/>
              <a:t>Election History</a:t>
            </a:r>
            <a:endParaRPr kumimoji="1" lang="zh-TW" altLang="en-US" dirty="0"/>
          </a:p>
        </p:txBody>
      </p:sp>
      <p:sp>
        <p:nvSpPr>
          <p:cNvPr id="3" name="內容版面配置區 2">
            <a:extLst>
              <a:ext uri="{FF2B5EF4-FFF2-40B4-BE49-F238E27FC236}">
                <a16:creationId xmlns:a16="http://schemas.microsoft.com/office/drawing/2014/main" id="{85B9866F-A136-97B8-7A3A-701D24F0C543}"/>
              </a:ext>
            </a:extLst>
          </p:cNvPr>
          <p:cNvSpPr>
            <a:spLocks noGrp="1"/>
          </p:cNvSpPr>
          <p:nvPr>
            <p:ph idx="1"/>
          </p:nvPr>
        </p:nvSpPr>
        <p:spPr/>
        <p:txBody>
          <a:bodyPr>
            <a:normAutofit fontScale="40000" lnSpcReduction="20000"/>
          </a:bodyPr>
          <a:lstStyle/>
          <a:p>
            <a:pPr>
              <a:lnSpc>
                <a:spcPct val="120000"/>
              </a:lnSpc>
            </a:pPr>
            <a:r>
              <a:rPr lang="en" altLang="zh-TW" sz="4300" b="1" dirty="0"/>
              <a:t>1935 – First local elections under Japanese rule</a:t>
            </a:r>
            <a:br>
              <a:rPr lang="en" altLang="zh-TW" sz="4300" dirty="0"/>
            </a:br>
            <a:r>
              <a:rPr lang="en" altLang="zh-TW" sz="4300" dirty="0"/>
              <a:t>Municipal and prefectural councils introduced; however, </a:t>
            </a:r>
            <a:r>
              <a:rPr lang="en" altLang="zh-TW" sz="4300" b="1" dirty="0"/>
              <a:t>suffrage limited to male taxpayers</a:t>
            </a:r>
            <a:r>
              <a:rPr lang="en" altLang="zh-TW" sz="4300" dirty="0"/>
              <a:t>, and many members were still appointed.</a:t>
            </a:r>
          </a:p>
          <a:p>
            <a:pPr>
              <a:lnSpc>
                <a:spcPct val="120000"/>
              </a:lnSpc>
            </a:pPr>
            <a:r>
              <a:rPr lang="en" altLang="zh-TW" sz="4300" b="1" dirty="0"/>
              <a:t>1947 – First national elections in the Republic of China</a:t>
            </a:r>
            <a:br>
              <a:rPr lang="en" altLang="zh-TW" sz="4300" dirty="0"/>
            </a:br>
            <a:r>
              <a:rPr lang="en" altLang="zh-TW" sz="4300" dirty="0"/>
              <a:t>Representatives elected to the </a:t>
            </a:r>
            <a:r>
              <a:rPr lang="en" altLang="zh-TW" sz="4300" b="1" dirty="0"/>
              <a:t>Legislative Yuan and National Assembly</a:t>
            </a:r>
            <a:r>
              <a:rPr lang="en" altLang="zh-TW" sz="4300" dirty="0"/>
              <a:t> before the KMT retreated to Taiwan.</a:t>
            </a:r>
          </a:p>
          <a:p>
            <a:pPr>
              <a:lnSpc>
                <a:spcPct val="120000"/>
              </a:lnSpc>
            </a:pPr>
            <a:r>
              <a:rPr lang="en" altLang="zh-TW" sz="4300" b="1" dirty="0"/>
              <a:t>1949–1987 – Martial law period</a:t>
            </a:r>
            <a:br>
              <a:rPr lang="en" altLang="zh-TW" sz="4300" dirty="0"/>
            </a:br>
            <a:r>
              <a:rPr lang="en" altLang="zh-TW" sz="4300" dirty="0"/>
              <a:t>National representatives elected in </a:t>
            </a:r>
            <a:r>
              <a:rPr lang="en" altLang="zh-TW" sz="4300" b="1" dirty="0"/>
              <a:t>1947 kept their seats indefinitely</a:t>
            </a:r>
            <a:r>
              <a:rPr lang="en" altLang="zh-TW" sz="4300" dirty="0"/>
              <a:t>, creating the so-called </a:t>
            </a:r>
            <a:r>
              <a:rPr lang="en" altLang="zh-TW" sz="4300" b="1" dirty="0"/>
              <a:t>“Ten-Thousand-Year Parliament.”</a:t>
            </a:r>
            <a:endParaRPr lang="en" altLang="zh-TW" sz="4300" dirty="0"/>
          </a:p>
          <a:p>
            <a:pPr>
              <a:lnSpc>
                <a:spcPct val="120000"/>
              </a:lnSpc>
            </a:pPr>
            <a:r>
              <a:rPr lang="en" altLang="zh-TW" sz="4300" b="1" dirty="0"/>
              <a:t>1950 – Regular local elections introduced in Taiwan</a:t>
            </a:r>
            <a:br>
              <a:rPr lang="en" altLang="zh-TW" sz="4300" dirty="0"/>
            </a:br>
            <a:r>
              <a:rPr lang="en" altLang="zh-TW" sz="4300" dirty="0"/>
              <a:t>Elections held for </a:t>
            </a:r>
            <a:r>
              <a:rPr lang="en" altLang="zh-TW" sz="4300" b="1" dirty="0"/>
              <a:t>county magistrates, mayors, township chiefs, and local councils</a:t>
            </a:r>
            <a:r>
              <a:rPr lang="en" altLang="zh-TW" sz="4300" dirty="0"/>
              <a:t>.</a:t>
            </a:r>
          </a:p>
          <a:p>
            <a:pPr>
              <a:lnSpc>
                <a:spcPct val="120000"/>
              </a:lnSpc>
            </a:pPr>
            <a:r>
              <a:rPr lang="en" altLang="zh-TW" sz="4300" b="1" dirty="0"/>
              <a:t>Opposition participation through local elections</a:t>
            </a:r>
            <a:br>
              <a:rPr lang="en" altLang="zh-TW" sz="4300" dirty="0"/>
            </a:br>
            <a:r>
              <a:rPr lang="en" altLang="zh-TW" sz="4300" dirty="0"/>
              <a:t>Non-KMT candidates (later called the </a:t>
            </a:r>
            <a:r>
              <a:rPr lang="en" altLang="zh-TW" sz="4300" b="1" dirty="0" err="1"/>
              <a:t>Tangwai</a:t>
            </a:r>
            <a:r>
              <a:rPr lang="en" altLang="zh-TW" sz="4300" b="1" dirty="0"/>
              <a:t> movement</a:t>
            </a:r>
            <a:r>
              <a:rPr lang="en" altLang="zh-TW" sz="4300" dirty="0"/>
              <a:t>) began winning local offices in the </a:t>
            </a:r>
            <a:r>
              <a:rPr lang="en" altLang="zh-TW" sz="4300" b="1" dirty="0"/>
              <a:t>1960s–1980s</a:t>
            </a:r>
            <a:r>
              <a:rPr lang="en" altLang="zh-TW" sz="4300" dirty="0"/>
              <a:t>.</a:t>
            </a:r>
          </a:p>
          <a:p>
            <a:pPr>
              <a:lnSpc>
                <a:spcPct val="120000"/>
              </a:lnSpc>
            </a:pPr>
            <a:r>
              <a:rPr lang="en" altLang="zh-TW" sz="4300" b="1" dirty="0"/>
              <a:t>By the 1980s:</a:t>
            </a:r>
            <a:r>
              <a:rPr lang="en" altLang="zh-TW" sz="4300" dirty="0"/>
              <a:t> Taiwan had </a:t>
            </a:r>
            <a:r>
              <a:rPr lang="en" altLang="zh-TW" sz="4300" b="1" dirty="0"/>
              <a:t>decades of electoral experience at the local level</a:t>
            </a:r>
            <a:r>
              <a:rPr lang="en" altLang="zh-TW" sz="4300" dirty="0"/>
              <a:t>, which helped facilitate </a:t>
            </a:r>
            <a:r>
              <a:rPr lang="en" altLang="zh-TW" sz="4300" b="1" dirty="0"/>
              <a:t>democratic transition after martial law ended in 1987</a:t>
            </a:r>
            <a:r>
              <a:rPr lang="en" altLang="zh-TW" sz="4300" dirty="0"/>
              <a:t>.</a:t>
            </a:r>
          </a:p>
          <a:p>
            <a:endParaRPr kumimoji="1" lang="zh-TW" altLang="en-US" dirty="0"/>
          </a:p>
        </p:txBody>
      </p:sp>
      <p:sp>
        <p:nvSpPr>
          <p:cNvPr id="4" name="投影片編號版面配置區 3">
            <a:extLst>
              <a:ext uri="{FF2B5EF4-FFF2-40B4-BE49-F238E27FC236}">
                <a16:creationId xmlns:a16="http://schemas.microsoft.com/office/drawing/2014/main" id="{8A47260E-8BB5-C80A-F8A8-94218033F03F}"/>
              </a:ext>
            </a:extLst>
          </p:cNvPr>
          <p:cNvSpPr>
            <a:spLocks noGrp="1"/>
          </p:cNvSpPr>
          <p:nvPr>
            <p:ph type="sldNum" sz="quarter" idx="12"/>
          </p:nvPr>
        </p:nvSpPr>
        <p:spPr/>
        <p:txBody>
          <a:bodyPr/>
          <a:lstStyle/>
          <a:p>
            <a:fld id="{C1FF6DA9-008F-8B48-92A6-B652298478BF}" type="slidenum">
              <a:rPr lang="en-US" smtClean="0"/>
              <a:t>5</a:t>
            </a:fld>
            <a:endParaRPr lang="en-US"/>
          </a:p>
        </p:txBody>
      </p:sp>
    </p:spTree>
    <p:extLst>
      <p:ext uri="{BB962C8B-B14F-4D97-AF65-F5344CB8AC3E}">
        <p14:creationId xmlns:p14="http://schemas.microsoft.com/office/powerpoint/2010/main" val="2409678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Elections and Democratization</a:t>
            </a:r>
          </a:p>
        </p:txBody>
      </p:sp>
      <p:sp>
        <p:nvSpPr>
          <p:cNvPr id="3" name="Content Placeholder 2"/>
          <p:cNvSpPr>
            <a:spLocks noGrp="1"/>
          </p:cNvSpPr>
          <p:nvPr>
            <p:ph idx="1"/>
          </p:nvPr>
        </p:nvSpPr>
        <p:spPr/>
        <p:txBody>
          <a:bodyPr>
            <a:normAutofit/>
          </a:bodyPr>
          <a:lstStyle/>
          <a:p>
            <a:r>
              <a:rPr dirty="0"/>
              <a:t>Local elections served as a safety valve allowing limited opposition competition.</a:t>
            </a:r>
            <a:endParaRPr lang="en-US" dirty="0"/>
          </a:p>
          <a:p>
            <a:r>
              <a:rPr lang="en-US" dirty="0"/>
              <a:t>Once elected, the opposition activists challenged the KMT’s authoritarian regime.</a:t>
            </a:r>
          </a:p>
          <a:p>
            <a:r>
              <a:rPr lang="en-US" dirty="0"/>
              <a:t>In 1960, the first non-KMT candidate, Yu Den-fa, was elected as the Kaohsiung County mayor.  He was suspended and arrested later.</a:t>
            </a:r>
          </a:p>
          <a:p>
            <a:r>
              <a:rPr lang="en-US" dirty="0"/>
              <a:t>Many political movements drove reforms.</a:t>
            </a:r>
            <a:endParaRPr dirty="0"/>
          </a:p>
        </p:txBody>
      </p:sp>
      <p:sp>
        <p:nvSpPr>
          <p:cNvPr id="4" name="投影片編號版面配置區 3">
            <a:extLst>
              <a:ext uri="{FF2B5EF4-FFF2-40B4-BE49-F238E27FC236}">
                <a16:creationId xmlns:a16="http://schemas.microsoft.com/office/drawing/2014/main" id="{BAAF8093-8B3D-9E82-0BAC-B02F6386AC38}"/>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E336719-ABF1-D422-5295-FCEFD7EF624C}"/>
              </a:ext>
            </a:extLst>
          </p:cNvPr>
          <p:cNvSpPr>
            <a:spLocks noGrp="1"/>
          </p:cNvSpPr>
          <p:nvPr>
            <p:ph type="title"/>
          </p:nvPr>
        </p:nvSpPr>
        <p:spPr/>
        <p:txBody>
          <a:bodyPr/>
          <a:lstStyle/>
          <a:p>
            <a:r>
              <a:rPr kumimoji="1" lang="en-US" altLang="zh-TW" dirty="0"/>
              <a:t>Chung-li Incident</a:t>
            </a:r>
            <a:r>
              <a:rPr kumimoji="1" lang="zh-TW" altLang="en-US" dirty="0"/>
              <a:t> </a:t>
            </a:r>
            <a:r>
              <a:rPr kumimoji="1" lang="en-US" altLang="zh-TW" dirty="0"/>
              <a:t>(1977)</a:t>
            </a:r>
            <a:endParaRPr kumimoji="1" lang="zh-TW" altLang="en-US" dirty="0"/>
          </a:p>
        </p:txBody>
      </p:sp>
      <p:sp>
        <p:nvSpPr>
          <p:cNvPr id="3" name="投影片編號版面配置區 2">
            <a:extLst>
              <a:ext uri="{FF2B5EF4-FFF2-40B4-BE49-F238E27FC236}">
                <a16:creationId xmlns:a16="http://schemas.microsoft.com/office/drawing/2014/main" id="{32EDB107-8C2C-782C-E027-3E545803F4BF}"/>
              </a:ext>
            </a:extLst>
          </p:cNvPr>
          <p:cNvSpPr>
            <a:spLocks noGrp="1"/>
          </p:cNvSpPr>
          <p:nvPr>
            <p:ph type="sldNum" sz="quarter" idx="12"/>
          </p:nvPr>
        </p:nvSpPr>
        <p:spPr/>
        <p:txBody>
          <a:bodyPr/>
          <a:lstStyle/>
          <a:p>
            <a:fld id="{C1FF6DA9-008F-8B48-92A6-B652298478BF}" type="slidenum">
              <a:rPr lang="en-US" smtClean="0"/>
              <a:t>7</a:t>
            </a:fld>
            <a:endParaRPr lang="en-US"/>
          </a:p>
        </p:txBody>
      </p:sp>
      <p:pic>
        <p:nvPicPr>
          <p:cNvPr id="5" name="圖片 4">
            <a:extLst>
              <a:ext uri="{FF2B5EF4-FFF2-40B4-BE49-F238E27FC236}">
                <a16:creationId xmlns:a16="http://schemas.microsoft.com/office/drawing/2014/main" id="{FDFB31D0-E684-D9D7-18F4-3B8A3023A8FA}"/>
              </a:ext>
            </a:extLst>
          </p:cNvPr>
          <p:cNvPicPr>
            <a:picLocks noChangeAspect="1"/>
          </p:cNvPicPr>
          <p:nvPr/>
        </p:nvPicPr>
        <p:blipFill>
          <a:blip r:embed="rId2"/>
          <a:stretch>
            <a:fillRect/>
          </a:stretch>
        </p:blipFill>
        <p:spPr>
          <a:xfrm>
            <a:off x="1331597" y="1579344"/>
            <a:ext cx="6977248" cy="4615300"/>
          </a:xfrm>
          <a:prstGeom prst="rect">
            <a:avLst/>
          </a:prstGeom>
        </p:spPr>
      </p:pic>
    </p:spTree>
    <p:extLst>
      <p:ext uri="{BB962C8B-B14F-4D97-AF65-F5344CB8AC3E}">
        <p14:creationId xmlns:p14="http://schemas.microsoft.com/office/powerpoint/2010/main" val="1899485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2D4311BD-FDEB-21B3-78B2-FD4C672DBD5A}"/>
              </a:ext>
            </a:extLst>
          </p:cNvPr>
          <p:cNvSpPr>
            <a:spLocks noGrp="1"/>
          </p:cNvSpPr>
          <p:nvPr>
            <p:ph type="title"/>
          </p:nvPr>
        </p:nvSpPr>
        <p:spPr/>
        <p:txBody>
          <a:bodyPr/>
          <a:lstStyle/>
          <a:p>
            <a:r>
              <a:rPr lang="en-US" altLang="zh-TW" dirty="0" err="1"/>
              <a:t>Ciaotao</a:t>
            </a:r>
            <a:r>
              <a:rPr lang="en-US" altLang="zh-TW" dirty="0"/>
              <a:t> Rally (1979)</a:t>
            </a:r>
            <a:endParaRPr lang="zh-TW" altLang="en-US" dirty="0"/>
          </a:p>
        </p:txBody>
      </p:sp>
      <p:sp>
        <p:nvSpPr>
          <p:cNvPr id="6" name="內容版面配置區 5">
            <a:extLst>
              <a:ext uri="{FF2B5EF4-FFF2-40B4-BE49-F238E27FC236}">
                <a16:creationId xmlns:a16="http://schemas.microsoft.com/office/drawing/2014/main" id="{D73C88E8-7734-1C75-B45F-57847B77FAD9}"/>
              </a:ext>
            </a:extLst>
          </p:cNvPr>
          <p:cNvSpPr>
            <a:spLocks noGrp="1"/>
          </p:cNvSpPr>
          <p:nvPr>
            <p:ph idx="1"/>
          </p:nvPr>
        </p:nvSpPr>
        <p:spPr/>
        <p:txBody>
          <a:bodyPr/>
          <a:lstStyle/>
          <a:p>
            <a:endParaRPr lang="zh-TW" altLang="en-US"/>
          </a:p>
        </p:txBody>
      </p:sp>
      <p:sp>
        <p:nvSpPr>
          <p:cNvPr id="2" name="投影片編號版面配置區 1">
            <a:extLst>
              <a:ext uri="{FF2B5EF4-FFF2-40B4-BE49-F238E27FC236}">
                <a16:creationId xmlns:a16="http://schemas.microsoft.com/office/drawing/2014/main" id="{B56E2D16-230A-E24A-1E05-CC5DB13B9834}"/>
              </a:ext>
            </a:extLst>
          </p:cNvPr>
          <p:cNvSpPr>
            <a:spLocks noGrp="1"/>
          </p:cNvSpPr>
          <p:nvPr>
            <p:ph type="sldNum" sz="quarter" idx="12"/>
          </p:nvPr>
        </p:nvSpPr>
        <p:spPr/>
        <p:txBody>
          <a:bodyPr/>
          <a:lstStyle/>
          <a:p>
            <a:fld id="{C1FF6DA9-008F-8B48-92A6-B652298478BF}" type="slidenum">
              <a:rPr lang="en-US" smtClean="0"/>
              <a:t>8</a:t>
            </a:fld>
            <a:endParaRPr lang="en-US"/>
          </a:p>
        </p:txBody>
      </p:sp>
      <p:pic>
        <p:nvPicPr>
          <p:cNvPr id="4" name="圖片 3">
            <a:extLst>
              <a:ext uri="{FF2B5EF4-FFF2-40B4-BE49-F238E27FC236}">
                <a16:creationId xmlns:a16="http://schemas.microsoft.com/office/drawing/2014/main" id="{9002BB28-7DE0-4F02-EE3C-6936EF3D781C}"/>
              </a:ext>
            </a:extLst>
          </p:cNvPr>
          <p:cNvPicPr>
            <a:picLocks noChangeAspect="1"/>
          </p:cNvPicPr>
          <p:nvPr/>
        </p:nvPicPr>
        <p:blipFill>
          <a:blip r:embed="rId2"/>
          <a:stretch>
            <a:fillRect/>
          </a:stretch>
        </p:blipFill>
        <p:spPr>
          <a:xfrm>
            <a:off x="685800" y="1312429"/>
            <a:ext cx="7772400" cy="4723827"/>
          </a:xfrm>
          <a:prstGeom prst="rect">
            <a:avLst/>
          </a:prstGeom>
        </p:spPr>
      </p:pic>
    </p:spTree>
    <p:extLst>
      <p:ext uri="{BB962C8B-B14F-4D97-AF65-F5344CB8AC3E}">
        <p14:creationId xmlns:p14="http://schemas.microsoft.com/office/powerpoint/2010/main" val="2533499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0EAD6C-4B3A-5430-C841-75D2C9A70EAA}"/>
              </a:ext>
            </a:extLst>
          </p:cNvPr>
          <p:cNvSpPr>
            <a:spLocks noGrp="1"/>
          </p:cNvSpPr>
          <p:nvPr>
            <p:ph type="title"/>
          </p:nvPr>
        </p:nvSpPr>
        <p:spPr/>
        <p:txBody>
          <a:bodyPr/>
          <a:lstStyle/>
          <a:p>
            <a:r>
              <a:rPr kumimoji="1" lang="en-US" altLang="zh-TW" dirty="0"/>
              <a:t>Formosa Incident (1979)</a:t>
            </a:r>
            <a:endParaRPr kumimoji="1" lang="zh-TW" altLang="en-US" dirty="0"/>
          </a:p>
        </p:txBody>
      </p:sp>
      <p:sp>
        <p:nvSpPr>
          <p:cNvPr id="3" name="投影片編號版面配置區 2">
            <a:extLst>
              <a:ext uri="{FF2B5EF4-FFF2-40B4-BE49-F238E27FC236}">
                <a16:creationId xmlns:a16="http://schemas.microsoft.com/office/drawing/2014/main" id="{0DD4DEAA-948B-588D-3399-5E4BDD9862F5}"/>
              </a:ext>
            </a:extLst>
          </p:cNvPr>
          <p:cNvSpPr>
            <a:spLocks noGrp="1"/>
          </p:cNvSpPr>
          <p:nvPr>
            <p:ph type="sldNum" sz="quarter" idx="12"/>
          </p:nvPr>
        </p:nvSpPr>
        <p:spPr/>
        <p:txBody>
          <a:bodyPr/>
          <a:lstStyle/>
          <a:p>
            <a:fld id="{C1FF6DA9-008F-8B48-92A6-B652298478BF}" type="slidenum">
              <a:rPr lang="en-US" smtClean="0"/>
              <a:t>9</a:t>
            </a:fld>
            <a:endParaRPr lang="en-US"/>
          </a:p>
        </p:txBody>
      </p:sp>
      <p:pic>
        <p:nvPicPr>
          <p:cNvPr id="7" name="圖片 6">
            <a:extLst>
              <a:ext uri="{FF2B5EF4-FFF2-40B4-BE49-F238E27FC236}">
                <a16:creationId xmlns:a16="http://schemas.microsoft.com/office/drawing/2014/main" id="{ACD54E08-A2AD-B8D1-BB07-3813F49EEB88}"/>
              </a:ext>
            </a:extLst>
          </p:cNvPr>
          <p:cNvPicPr>
            <a:picLocks noChangeAspect="1"/>
          </p:cNvPicPr>
          <p:nvPr/>
        </p:nvPicPr>
        <p:blipFill>
          <a:blip r:embed="rId2"/>
          <a:stretch>
            <a:fillRect/>
          </a:stretch>
        </p:blipFill>
        <p:spPr>
          <a:xfrm>
            <a:off x="599090" y="1349759"/>
            <a:ext cx="7772400" cy="5074471"/>
          </a:xfrm>
          <a:prstGeom prst="rect">
            <a:avLst/>
          </a:prstGeom>
        </p:spPr>
      </p:pic>
    </p:spTree>
    <p:extLst>
      <p:ext uri="{BB962C8B-B14F-4D97-AF65-F5344CB8AC3E}">
        <p14:creationId xmlns:p14="http://schemas.microsoft.com/office/powerpoint/2010/main" val="4229320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F8DFFEB-A851-AAEF-2C9D-74E928EBBB7C}"/>
              </a:ext>
            </a:extLst>
          </p:cNvPr>
          <p:cNvSpPr>
            <a:spLocks noGrp="1"/>
          </p:cNvSpPr>
          <p:nvPr>
            <p:ph type="title"/>
          </p:nvPr>
        </p:nvSpPr>
        <p:spPr/>
        <p:txBody>
          <a:bodyPr/>
          <a:lstStyle/>
          <a:p>
            <a:r>
              <a:rPr kumimoji="1" lang="en-US" altLang="zh-TW" dirty="0"/>
              <a:t>DPP founded (1986)</a:t>
            </a:r>
            <a:endParaRPr kumimoji="1" lang="zh-TW" altLang="en-US" dirty="0"/>
          </a:p>
        </p:txBody>
      </p:sp>
      <p:sp>
        <p:nvSpPr>
          <p:cNvPr id="3" name="投影片編號版面配置區 2">
            <a:extLst>
              <a:ext uri="{FF2B5EF4-FFF2-40B4-BE49-F238E27FC236}">
                <a16:creationId xmlns:a16="http://schemas.microsoft.com/office/drawing/2014/main" id="{4562209D-4D50-985D-9699-C7B0077C3B93}"/>
              </a:ext>
            </a:extLst>
          </p:cNvPr>
          <p:cNvSpPr>
            <a:spLocks noGrp="1"/>
          </p:cNvSpPr>
          <p:nvPr>
            <p:ph type="sldNum" sz="quarter" idx="12"/>
          </p:nvPr>
        </p:nvSpPr>
        <p:spPr/>
        <p:txBody>
          <a:bodyPr/>
          <a:lstStyle/>
          <a:p>
            <a:fld id="{C1FF6DA9-008F-8B48-92A6-B652298478BF}" type="slidenum">
              <a:rPr lang="en-US" smtClean="0"/>
              <a:t>10</a:t>
            </a:fld>
            <a:endParaRPr lang="en-US"/>
          </a:p>
        </p:txBody>
      </p:sp>
      <p:pic>
        <p:nvPicPr>
          <p:cNvPr id="5" name="圖片 4">
            <a:extLst>
              <a:ext uri="{FF2B5EF4-FFF2-40B4-BE49-F238E27FC236}">
                <a16:creationId xmlns:a16="http://schemas.microsoft.com/office/drawing/2014/main" id="{FC4F20DF-B0CD-775E-1C53-775D830BB885}"/>
              </a:ext>
            </a:extLst>
          </p:cNvPr>
          <p:cNvPicPr>
            <a:picLocks noChangeAspect="1"/>
          </p:cNvPicPr>
          <p:nvPr/>
        </p:nvPicPr>
        <p:blipFill>
          <a:blip r:embed="rId2"/>
          <a:stretch>
            <a:fillRect/>
          </a:stretch>
        </p:blipFill>
        <p:spPr>
          <a:xfrm>
            <a:off x="1201244" y="1697038"/>
            <a:ext cx="6933763" cy="4659312"/>
          </a:xfrm>
          <a:prstGeom prst="rect">
            <a:avLst/>
          </a:prstGeom>
        </p:spPr>
      </p:pic>
    </p:spTree>
    <p:extLst>
      <p:ext uri="{BB962C8B-B14F-4D97-AF65-F5344CB8AC3E}">
        <p14:creationId xmlns:p14="http://schemas.microsoft.com/office/powerpoint/2010/main" val="1570091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Turning Points</a:t>
            </a:r>
          </a:p>
        </p:txBody>
      </p:sp>
      <p:sp>
        <p:nvSpPr>
          <p:cNvPr id="3" name="Content Placeholder 2"/>
          <p:cNvSpPr>
            <a:spLocks noGrp="1"/>
          </p:cNvSpPr>
          <p:nvPr>
            <p:ph idx="1"/>
          </p:nvPr>
        </p:nvSpPr>
        <p:spPr/>
        <p:txBody>
          <a:bodyPr>
            <a:normAutofit/>
          </a:bodyPr>
          <a:lstStyle/>
          <a:p>
            <a:pPr>
              <a:buFont typeface="Wingdings" pitchFamily="2" charset="2"/>
              <a:buChar char="Ø"/>
            </a:pPr>
            <a:r>
              <a:rPr sz="2400" dirty="0"/>
              <a:t>1992 Legislative Yuan reelection</a:t>
            </a:r>
            <a:endParaRPr lang="en-US" sz="2400" dirty="0"/>
          </a:p>
          <a:p>
            <a:pPr>
              <a:buFont typeface="Arial" panose="020B0604020202020204" pitchFamily="34" charset="0"/>
              <a:buChar char="•"/>
            </a:pPr>
            <a:r>
              <a:rPr lang="en" sz="2400" dirty="0"/>
              <a:t>Taiwan held the first full reelection of the Legislative Yuan, replacing mainland-elected representatives and defining the status quo of a democratic Taiwan, distinct from the PRC.</a:t>
            </a:r>
            <a:endParaRPr sz="2400" dirty="0"/>
          </a:p>
          <a:p>
            <a:pPr>
              <a:buFont typeface="Wingdings" pitchFamily="2" charset="2"/>
              <a:buChar char="Ø"/>
            </a:pPr>
            <a:r>
              <a:rPr sz="2400" dirty="0"/>
              <a:t>1996 first direct presidential election</a:t>
            </a:r>
            <a:r>
              <a:rPr lang="en-US" sz="2400" dirty="0"/>
              <a:t>: </a:t>
            </a:r>
          </a:p>
          <a:p>
            <a:pPr>
              <a:buFont typeface="Arial" panose="020B0604020202020204" pitchFamily="34" charset="0"/>
              <a:buChar char="•"/>
            </a:pPr>
            <a:r>
              <a:rPr lang="en-US" sz="2400" dirty="0"/>
              <a:t>It </a:t>
            </a:r>
            <a:r>
              <a:rPr lang="en" sz="2400" dirty="0"/>
              <a:t>symbolizes democratic sovereignty and presidential system.</a:t>
            </a:r>
            <a:endParaRPr sz="2400" dirty="0"/>
          </a:p>
          <a:p>
            <a:pPr>
              <a:buFont typeface="Wingdings" pitchFamily="2" charset="2"/>
              <a:buChar char="Ø"/>
            </a:pPr>
            <a:r>
              <a:rPr sz="2400" dirty="0"/>
              <a:t>2000 peaceful power transition</a:t>
            </a:r>
            <a:endParaRPr lang="en-US" sz="2400" dirty="0"/>
          </a:p>
          <a:p>
            <a:pPr>
              <a:buFont typeface="Arial" panose="020B0604020202020204" pitchFamily="34" charset="0"/>
              <a:buChar char="•"/>
            </a:pPr>
            <a:r>
              <a:rPr lang="en" sz="2400" dirty="0"/>
              <a:t>The victory of Chen Shui-bian (DPP) ended decades of Kuomintang rule and marked Taiwan’s first peaceful transfer of power between parties.</a:t>
            </a:r>
            <a:endParaRPr sz="2400" dirty="0"/>
          </a:p>
        </p:txBody>
      </p:sp>
      <p:sp>
        <p:nvSpPr>
          <p:cNvPr id="4" name="投影片編號版面配置區 3">
            <a:extLst>
              <a:ext uri="{FF2B5EF4-FFF2-40B4-BE49-F238E27FC236}">
                <a16:creationId xmlns:a16="http://schemas.microsoft.com/office/drawing/2014/main" id="{A37289CF-38B5-CF24-51F9-638FA22C8C82}"/>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70DED-CDA6-E665-DE5F-5BFB20121E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9514C0-A314-5F68-23C8-F63701723056}"/>
              </a:ext>
            </a:extLst>
          </p:cNvPr>
          <p:cNvSpPr>
            <a:spLocks noGrp="1"/>
          </p:cNvSpPr>
          <p:nvPr>
            <p:ph type="title"/>
          </p:nvPr>
        </p:nvSpPr>
        <p:spPr/>
        <p:txBody>
          <a:bodyPr/>
          <a:lstStyle/>
          <a:p>
            <a:r>
              <a:rPr lang="en-US" altLang="zh-TW" dirty="0"/>
              <a:t>Election Issues</a:t>
            </a:r>
            <a:endParaRPr dirty="0"/>
          </a:p>
        </p:txBody>
      </p:sp>
      <p:sp>
        <p:nvSpPr>
          <p:cNvPr id="3" name="Content Placeholder 2">
            <a:extLst>
              <a:ext uri="{FF2B5EF4-FFF2-40B4-BE49-F238E27FC236}">
                <a16:creationId xmlns:a16="http://schemas.microsoft.com/office/drawing/2014/main" id="{AE402A71-9A05-85CF-ACC4-4B8B26C6EC3C}"/>
              </a:ext>
            </a:extLst>
          </p:cNvPr>
          <p:cNvSpPr>
            <a:spLocks noGrp="1"/>
          </p:cNvSpPr>
          <p:nvPr>
            <p:ph idx="1"/>
          </p:nvPr>
        </p:nvSpPr>
        <p:spPr/>
        <p:txBody>
          <a:bodyPr>
            <a:normAutofit/>
          </a:bodyPr>
          <a:lstStyle/>
          <a:p>
            <a:r>
              <a:rPr lang="en-US" altLang="zh-TW" sz="2400" dirty="0"/>
              <a:t>After DPP was established, democratization issue (reform vs. social order) was replaced by national identity (independence vs. unification).</a:t>
            </a:r>
          </a:p>
          <a:p>
            <a:r>
              <a:rPr lang="en-US" altLang="zh-TW" sz="2400" dirty="0"/>
              <a:t>The DPP promoted the idea of self-determination, claiming to represent the indigenous Taiwanese.</a:t>
            </a:r>
          </a:p>
          <a:p>
            <a:r>
              <a:rPr lang="en-US" altLang="zh-TW" sz="2400" dirty="0"/>
              <a:t>The KMT insisted on continuation of Republic of China, calling the DPP the separationists.</a:t>
            </a:r>
          </a:p>
          <a:p>
            <a:r>
              <a:rPr lang="en-US" altLang="zh-TW" sz="2400" dirty="0"/>
              <a:t>Environmental protection, labor, anti-nuclear power, woman rights, and unemployment issues were not prioritized. </a:t>
            </a:r>
          </a:p>
          <a:p>
            <a:endParaRPr lang="en-US" altLang="zh-TW" sz="2400" dirty="0"/>
          </a:p>
          <a:p>
            <a:endParaRPr lang="en-US" altLang="zh-TW" sz="2400" dirty="0"/>
          </a:p>
        </p:txBody>
      </p:sp>
      <p:sp>
        <p:nvSpPr>
          <p:cNvPr id="4" name="投影片編號版面配置區 3">
            <a:extLst>
              <a:ext uri="{FF2B5EF4-FFF2-40B4-BE49-F238E27FC236}">
                <a16:creationId xmlns:a16="http://schemas.microsoft.com/office/drawing/2014/main" id="{79D3A597-534F-857F-209A-61BADA50FDAE}"/>
              </a:ext>
            </a:extLst>
          </p:cNvPr>
          <p:cNvSpPr>
            <a:spLocks noGrp="1"/>
          </p:cNvSpPr>
          <p:nvPr>
            <p:ph type="sldNum" sz="quarter" idx="12"/>
          </p:nvPr>
        </p:nvSpPr>
        <p:spPr/>
        <p:txBody>
          <a:bodyPr/>
          <a:lstStyle/>
          <a:p>
            <a:fld id="{C1FF6DA9-008F-8B48-92A6-B652298478BF}" type="slidenum">
              <a:rPr lang="en-US" smtClean="0"/>
              <a:t>12</a:t>
            </a:fld>
            <a:endParaRPr lang="en-US"/>
          </a:p>
        </p:txBody>
      </p:sp>
    </p:spTree>
    <p:extLst>
      <p:ext uri="{BB962C8B-B14F-4D97-AF65-F5344CB8AC3E}">
        <p14:creationId xmlns:p14="http://schemas.microsoft.com/office/powerpoint/2010/main" val="2260417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Electoral Participation</a:t>
            </a:r>
            <a:endParaRPr dirty="0"/>
          </a:p>
        </p:txBody>
      </p:sp>
      <p:sp>
        <p:nvSpPr>
          <p:cNvPr id="3" name="Content Placeholder 2"/>
          <p:cNvSpPr>
            <a:spLocks noGrp="1"/>
          </p:cNvSpPr>
          <p:nvPr>
            <p:ph idx="1"/>
          </p:nvPr>
        </p:nvSpPr>
        <p:spPr/>
        <p:txBody>
          <a:bodyPr/>
          <a:lstStyle/>
          <a:p>
            <a:r>
              <a:rPr lang="en-US" sz="2400" dirty="0"/>
              <a:t>Since Taiwan is young democracy, Taiwanese people are interested in politics.</a:t>
            </a:r>
          </a:p>
          <a:p>
            <a:r>
              <a:rPr lang="en-US" sz="2400" dirty="0"/>
              <a:t>Due to the high competitiveness, the turnout rates in the presidential election are around 70 percent. The lowest one occurred in 2016.</a:t>
            </a:r>
          </a:p>
          <a:p>
            <a:r>
              <a:rPr lang="en-US" sz="2400" dirty="0"/>
              <a:t>The turnout rates in the county/city mayoral elections are around 60 percent. </a:t>
            </a:r>
          </a:p>
          <a:p>
            <a:r>
              <a:rPr lang="en-US" sz="2400" dirty="0"/>
              <a:t>Because there is no absentee vote, many of young voters have to travel back to their hometown to vote.</a:t>
            </a:r>
          </a:p>
          <a:p>
            <a:r>
              <a:rPr lang="en-US" sz="2400" dirty="0"/>
              <a:t>Voting Day is scheduled on Saturday, but many people still work.</a:t>
            </a:r>
          </a:p>
          <a:p>
            <a:endParaRPr lang="en-US" sz="2400" dirty="0"/>
          </a:p>
        </p:txBody>
      </p:sp>
      <p:sp>
        <p:nvSpPr>
          <p:cNvPr id="4" name="投影片編號版面配置區 3">
            <a:extLst>
              <a:ext uri="{FF2B5EF4-FFF2-40B4-BE49-F238E27FC236}">
                <a16:creationId xmlns:a16="http://schemas.microsoft.com/office/drawing/2014/main" id="{79756ED8-AC82-FC88-23C6-C447B98D1241}"/>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B3F7E54E-CE73-141F-6E77-E4816F1838E2}"/>
              </a:ext>
            </a:extLst>
          </p:cNvPr>
          <p:cNvSpPr>
            <a:spLocks noGrp="1"/>
          </p:cNvSpPr>
          <p:nvPr>
            <p:ph type="title"/>
          </p:nvPr>
        </p:nvSpPr>
        <p:spPr/>
        <p:txBody>
          <a:bodyPr>
            <a:normAutofit fontScale="90000"/>
          </a:bodyPr>
          <a:lstStyle/>
          <a:p>
            <a:r>
              <a:rPr lang="en-US" altLang="zh-TW" dirty="0"/>
              <a:t>Turnout Rates in Presidential Elections</a:t>
            </a:r>
            <a:endParaRPr lang="zh-TW" altLang="en-US" dirty="0"/>
          </a:p>
        </p:txBody>
      </p:sp>
      <p:sp>
        <p:nvSpPr>
          <p:cNvPr id="2" name="投影片編號版面配置區 1">
            <a:extLst>
              <a:ext uri="{FF2B5EF4-FFF2-40B4-BE49-F238E27FC236}">
                <a16:creationId xmlns:a16="http://schemas.microsoft.com/office/drawing/2014/main" id="{A4E5D56B-1E87-DDE5-951D-5349A60EAB8A}"/>
              </a:ext>
            </a:extLst>
          </p:cNvPr>
          <p:cNvSpPr>
            <a:spLocks noGrp="1"/>
          </p:cNvSpPr>
          <p:nvPr>
            <p:ph type="sldNum" sz="quarter" idx="12"/>
          </p:nvPr>
        </p:nvSpPr>
        <p:spPr/>
        <p:txBody>
          <a:bodyPr/>
          <a:lstStyle/>
          <a:p>
            <a:fld id="{C1FF6DA9-008F-8B48-92A6-B652298478BF}" type="slidenum">
              <a:rPr lang="en-US" smtClean="0"/>
              <a:t>14</a:t>
            </a:fld>
            <a:endParaRPr lang="en-US"/>
          </a:p>
        </p:txBody>
      </p:sp>
      <p:pic>
        <p:nvPicPr>
          <p:cNvPr id="4" name="圖片 3">
            <a:extLst>
              <a:ext uri="{FF2B5EF4-FFF2-40B4-BE49-F238E27FC236}">
                <a16:creationId xmlns:a16="http://schemas.microsoft.com/office/drawing/2014/main" id="{1F7EEF02-323B-4AB9-50F8-3DACC048A261}"/>
              </a:ext>
            </a:extLst>
          </p:cNvPr>
          <p:cNvPicPr>
            <a:picLocks noChangeAspect="1"/>
          </p:cNvPicPr>
          <p:nvPr/>
        </p:nvPicPr>
        <p:blipFill>
          <a:blip r:embed="rId2"/>
          <a:stretch>
            <a:fillRect/>
          </a:stretch>
        </p:blipFill>
        <p:spPr>
          <a:xfrm>
            <a:off x="457200" y="1711352"/>
            <a:ext cx="7793343" cy="4351283"/>
          </a:xfrm>
          <a:prstGeom prst="rect">
            <a:avLst/>
          </a:prstGeom>
        </p:spPr>
      </p:pic>
    </p:spTree>
    <p:extLst>
      <p:ext uri="{BB962C8B-B14F-4D97-AF65-F5344CB8AC3E}">
        <p14:creationId xmlns:p14="http://schemas.microsoft.com/office/powerpoint/2010/main" val="2755237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Party System</a:t>
            </a:r>
            <a:endParaRPr dirty="0"/>
          </a:p>
        </p:txBody>
      </p:sp>
      <p:sp>
        <p:nvSpPr>
          <p:cNvPr id="3" name="Content Placeholder 2"/>
          <p:cNvSpPr>
            <a:spLocks noGrp="1"/>
          </p:cNvSpPr>
          <p:nvPr>
            <p:ph idx="1"/>
          </p:nvPr>
        </p:nvSpPr>
        <p:spPr/>
        <p:txBody>
          <a:bodyPr>
            <a:normAutofit lnSpcReduction="10000"/>
          </a:bodyPr>
          <a:lstStyle/>
          <a:p>
            <a:r>
              <a:rPr lang="en-US" sz="2400" dirty="0"/>
              <a:t>After a series of legislative and local elections, the DPP became the major party. The presidential system fosters Taiwan’s two-party system.</a:t>
            </a:r>
          </a:p>
          <a:p>
            <a:r>
              <a:rPr lang="en-US" sz="2400" dirty="0"/>
              <a:t>Some third parties like New Party, People’s First Party (PFP, James Soong) and New Power Party (NPP, </a:t>
            </a:r>
            <a:r>
              <a:rPr lang="en-US" sz="2400" dirty="0" err="1"/>
              <a:t>Kuo-chang</a:t>
            </a:r>
            <a:r>
              <a:rPr lang="en-US" sz="2400" dirty="0"/>
              <a:t> Huang) emerged, they cannot compete against DPP or KMT in the presidential election. </a:t>
            </a:r>
          </a:p>
          <a:p>
            <a:r>
              <a:rPr lang="en-US" sz="2400" dirty="0"/>
              <a:t>Taiwan People’s Party (TPP, Ko Wen-je) was founded in 2020. Ko almost won the second place in the 2024 presidential election.</a:t>
            </a:r>
          </a:p>
          <a:p>
            <a:r>
              <a:rPr lang="en-US" sz="2400" dirty="0"/>
              <a:t>People may sincerely vote, but the two major parties have much more resources.</a:t>
            </a:r>
          </a:p>
          <a:p>
            <a:endParaRPr lang="en-US" sz="2400" dirty="0"/>
          </a:p>
        </p:txBody>
      </p:sp>
      <p:sp>
        <p:nvSpPr>
          <p:cNvPr id="4" name="投影片編號版面配置區 3">
            <a:extLst>
              <a:ext uri="{FF2B5EF4-FFF2-40B4-BE49-F238E27FC236}">
                <a16:creationId xmlns:a16="http://schemas.microsoft.com/office/drawing/2014/main" id="{79756ED8-AC82-FC88-23C6-C447B98D1241}"/>
              </a:ext>
            </a:extLst>
          </p:cNvPr>
          <p:cNvSpPr>
            <a:spLocks noGrp="1"/>
          </p:cNvSpPr>
          <p:nvPr>
            <p:ph type="sldNum" sz="quarter" idx="12"/>
          </p:nvPr>
        </p:nvSpPr>
        <p:spPr/>
        <p:txBody>
          <a:bodyPr/>
          <a:lstStyle/>
          <a:p>
            <a:fld id="{C1FF6DA9-008F-8B48-92A6-B652298478BF}" type="slidenum">
              <a:rPr lang="en-US" smtClean="0"/>
              <a:t>15</a:t>
            </a:fld>
            <a:endParaRPr lang="en-US"/>
          </a:p>
        </p:txBody>
      </p:sp>
    </p:spTree>
    <p:extLst>
      <p:ext uri="{BB962C8B-B14F-4D97-AF65-F5344CB8AC3E}">
        <p14:creationId xmlns:p14="http://schemas.microsoft.com/office/powerpoint/2010/main" val="3915719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45B2A91C-E5B6-86D2-634E-9033F3868D16}"/>
              </a:ext>
            </a:extLst>
          </p:cNvPr>
          <p:cNvSpPr>
            <a:spLocks noGrp="1"/>
          </p:cNvSpPr>
          <p:nvPr>
            <p:ph type="sldNum" sz="quarter" idx="12"/>
          </p:nvPr>
        </p:nvSpPr>
        <p:spPr/>
        <p:txBody>
          <a:bodyPr/>
          <a:lstStyle/>
          <a:p>
            <a:fld id="{C1FF6DA9-008F-8B48-92A6-B652298478BF}" type="slidenum">
              <a:rPr lang="en-US" smtClean="0"/>
              <a:t>16</a:t>
            </a:fld>
            <a:endParaRPr lang="en-US"/>
          </a:p>
        </p:txBody>
      </p:sp>
      <p:pic>
        <p:nvPicPr>
          <p:cNvPr id="4" name="圖片 3">
            <a:extLst>
              <a:ext uri="{FF2B5EF4-FFF2-40B4-BE49-F238E27FC236}">
                <a16:creationId xmlns:a16="http://schemas.microsoft.com/office/drawing/2014/main" id="{6D5336C7-EFEF-4F4E-8CBC-C9D1679C4FED}"/>
              </a:ext>
            </a:extLst>
          </p:cNvPr>
          <p:cNvPicPr>
            <a:picLocks noChangeAspect="1"/>
          </p:cNvPicPr>
          <p:nvPr/>
        </p:nvPicPr>
        <p:blipFill>
          <a:blip r:embed="rId2"/>
          <a:stretch>
            <a:fillRect/>
          </a:stretch>
        </p:blipFill>
        <p:spPr>
          <a:xfrm>
            <a:off x="-1" y="784412"/>
            <a:ext cx="9055555" cy="5238016"/>
          </a:xfrm>
          <a:prstGeom prst="rect">
            <a:avLst/>
          </a:prstGeom>
        </p:spPr>
      </p:pic>
    </p:spTree>
    <p:extLst>
      <p:ext uri="{BB962C8B-B14F-4D97-AF65-F5344CB8AC3E}">
        <p14:creationId xmlns:p14="http://schemas.microsoft.com/office/powerpoint/2010/main" val="2041250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Local Factions</a:t>
            </a:r>
            <a:r>
              <a:rPr lang="en-US" dirty="0"/>
              <a:t> (1)</a:t>
            </a:r>
            <a:endParaRPr dirty="0"/>
          </a:p>
        </p:txBody>
      </p:sp>
      <p:sp>
        <p:nvSpPr>
          <p:cNvPr id="3" name="Content Placeholder 2"/>
          <p:cNvSpPr>
            <a:spLocks noGrp="1"/>
          </p:cNvSpPr>
          <p:nvPr>
            <p:ph idx="1"/>
          </p:nvPr>
        </p:nvSpPr>
        <p:spPr/>
        <p:txBody>
          <a:bodyPr>
            <a:normAutofit/>
          </a:bodyPr>
          <a:lstStyle/>
          <a:p>
            <a:r>
              <a:rPr lang="en-US" sz="2400" dirty="0"/>
              <a:t>When Taiwan transformed from agricultural to industrial society, political families and local factions still control farmer/fisher association, credit unions, chartered business, and social associations.</a:t>
            </a:r>
          </a:p>
          <a:p>
            <a:r>
              <a:rPr lang="en-US" sz="2400" dirty="0"/>
              <a:t>They accumulate social capital and wealth for elections.</a:t>
            </a:r>
          </a:p>
          <a:p>
            <a:r>
              <a:rPr lang="en-US" sz="2400" dirty="0"/>
              <a:t>Due to weak law enforcement and KMT’s tolerance, vote buying was common. </a:t>
            </a:r>
          </a:p>
          <a:p>
            <a:r>
              <a:rPr lang="en-US" sz="2400" dirty="0"/>
              <a:t>Therefore, local elites can</a:t>
            </a:r>
            <a:r>
              <a:rPr sz="2400" dirty="0"/>
              <a:t> mobilize voters through long‑term reciprocity networks.</a:t>
            </a:r>
            <a:endParaRPr lang="en-US" sz="2400" dirty="0"/>
          </a:p>
          <a:p>
            <a:endParaRPr sz="2400" dirty="0"/>
          </a:p>
        </p:txBody>
      </p:sp>
      <p:sp>
        <p:nvSpPr>
          <p:cNvPr id="4" name="投影片編號版面配置區 3">
            <a:extLst>
              <a:ext uri="{FF2B5EF4-FFF2-40B4-BE49-F238E27FC236}">
                <a16:creationId xmlns:a16="http://schemas.microsoft.com/office/drawing/2014/main" id="{2B1D4ADE-D46B-8AB0-4078-B0A77ED0A4CB}"/>
              </a:ext>
            </a:extLst>
          </p:cNvPr>
          <p:cNvSpPr>
            <a:spLocks noGrp="1"/>
          </p:cNvSpPr>
          <p:nvPr>
            <p:ph type="sldNum" sz="quarter" idx="12"/>
          </p:nvPr>
        </p:nvSpPr>
        <p:spPr/>
        <p:txBody>
          <a:bodyPr/>
          <a:lstStyle/>
          <a:p>
            <a:fld id="{C1FF6DA9-008F-8B48-92A6-B652298478BF}"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Factions (2)</a:t>
            </a:r>
            <a:endParaRPr dirty="0"/>
          </a:p>
        </p:txBody>
      </p:sp>
      <p:sp>
        <p:nvSpPr>
          <p:cNvPr id="3" name="Content Placeholder 2"/>
          <p:cNvSpPr>
            <a:spLocks noGrp="1"/>
          </p:cNvSpPr>
          <p:nvPr>
            <p:ph idx="1"/>
          </p:nvPr>
        </p:nvSpPr>
        <p:spPr/>
        <p:txBody>
          <a:bodyPr>
            <a:normAutofit/>
          </a:bodyPr>
          <a:lstStyle/>
          <a:p>
            <a:r>
              <a:rPr lang="en-US" sz="2400" dirty="0"/>
              <a:t>Because Taiwan used single non-transferrable voting system (SNTV) in the legislative and assembly elections, it only takes few thousand votes to get elected.</a:t>
            </a:r>
          </a:p>
          <a:p>
            <a:r>
              <a:rPr lang="en-US" sz="2400" dirty="0"/>
              <a:t>Therefore, partisanship may not be as important as in single-member district. Instead, people tend to choose candidates based on their visibility and constituent service. </a:t>
            </a:r>
          </a:p>
          <a:p>
            <a:r>
              <a:rPr lang="en-US" sz="2400" dirty="0"/>
              <a:t>Major political parties also like to cooperate with political dynasties as long as they share some points of view.</a:t>
            </a:r>
          </a:p>
          <a:p>
            <a:r>
              <a:rPr lang="en-US" sz="2400" dirty="0"/>
              <a:t>Although the legislative election changed to simple majority voting system in 2008, local factions remain influential in the elections.</a:t>
            </a:r>
          </a:p>
        </p:txBody>
      </p:sp>
      <p:sp>
        <p:nvSpPr>
          <p:cNvPr id="4" name="投影片編號版面配置區 3">
            <a:extLst>
              <a:ext uri="{FF2B5EF4-FFF2-40B4-BE49-F238E27FC236}">
                <a16:creationId xmlns:a16="http://schemas.microsoft.com/office/drawing/2014/main" id="{C20EB925-5352-FC35-9548-FE91DA77901B}"/>
              </a:ext>
            </a:extLst>
          </p:cNvPr>
          <p:cNvSpPr>
            <a:spLocks noGrp="1"/>
          </p:cNvSpPr>
          <p:nvPr>
            <p:ph type="sldNum" sz="quarter" idx="12"/>
          </p:nvPr>
        </p:nvSpPr>
        <p:spPr/>
        <p:txBody>
          <a:bodyPr/>
          <a:lstStyle/>
          <a:p>
            <a:fld id="{C1FF6DA9-008F-8B48-92A6-B652298478BF}"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Current Legislative Election System</a:t>
            </a:r>
            <a:endParaRPr dirty="0"/>
          </a:p>
        </p:txBody>
      </p:sp>
      <p:sp>
        <p:nvSpPr>
          <p:cNvPr id="3" name="Content Placeholder 2"/>
          <p:cNvSpPr>
            <a:spLocks noGrp="1"/>
          </p:cNvSpPr>
          <p:nvPr>
            <p:ph idx="1"/>
          </p:nvPr>
        </p:nvSpPr>
        <p:spPr/>
        <p:txBody>
          <a:bodyPr>
            <a:normAutofit fontScale="85000" lnSpcReduction="20000"/>
          </a:bodyPr>
          <a:lstStyle/>
          <a:p>
            <a:r>
              <a:rPr lang="en-US" dirty="0"/>
              <a:t>Taiwan uses a parallel voting system, meaning the two types of votes (district and party) are calculated separately and do not influence each other’s seat allocation.</a:t>
            </a:r>
          </a:p>
          <a:p>
            <a:pPr>
              <a:buFont typeface="Arial" panose="020B0604020202020204" pitchFamily="34" charset="0"/>
              <a:buChar char="•"/>
            </a:pPr>
            <a:r>
              <a:rPr lang="en-US" dirty="0"/>
              <a:t>Total Seats: 113</a:t>
            </a:r>
          </a:p>
          <a:p>
            <a:pPr>
              <a:buFont typeface="Arial" panose="020B0604020202020204" pitchFamily="34" charset="0"/>
              <a:buChar char="•"/>
            </a:pPr>
            <a:r>
              <a:rPr lang="en-US" dirty="0"/>
              <a:t>Term Length: 4 years (concurrent with the Presidential term)</a:t>
            </a:r>
          </a:p>
          <a:p>
            <a:pPr>
              <a:buFont typeface="Arial" panose="020B0604020202020204" pitchFamily="34" charset="0"/>
              <a:buChar char="•"/>
            </a:pPr>
            <a:r>
              <a:rPr lang="en-US" dirty="0"/>
              <a:t>The "Three-Way" Split:</a:t>
            </a:r>
          </a:p>
          <a:p>
            <a:pPr marL="742950" lvl="1" indent="-285750">
              <a:buFont typeface="Arial" panose="020B0604020202020204" pitchFamily="34" charset="0"/>
              <a:buChar char="•"/>
            </a:pPr>
            <a:r>
              <a:rPr lang="en-US" dirty="0"/>
              <a:t>73 Seats: Regional District (First-Past-The-Post)</a:t>
            </a:r>
          </a:p>
          <a:p>
            <a:pPr marL="742950" lvl="1" indent="-285750">
              <a:buFont typeface="Arial" panose="020B0604020202020204" pitchFamily="34" charset="0"/>
              <a:buChar char="•"/>
            </a:pPr>
            <a:r>
              <a:rPr lang="en-US" dirty="0"/>
              <a:t>34 Seats: At-Large / Party-List (Proportional Representation)</a:t>
            </a:r>
          </a:p>
          <a:p>
            <a:pPr marL="742950" lvl="1" indent="-285750">
              <a:buFont typeface="Arial" panose="020B0604020202020204" pitchFamily="34" charset="0"/>
              <a:buChar char="•"/>
            </a:pPr>
            <a:r>
              <a:rPr lang="en-US" dirty="0"/>
              <a:t>6 Seats: Indigenous Representatives</a:t>
            </a:r>
          </a:p>
        </p:txBody>
      </p:sp>
      <p:sp>
        <p:nvSpPr>
          <p:cNvPr id="4" name="投影片編號版面配置區 3">
            <a:extLst>
              <a:ext uri="{FF2B5EF4-FFF2-40B4-BE49-F238E27FC236}">
                <a16:creationId xmlns:a16="http://schemas.microsoft.com/office/drawing/2014/main" id="{F64560C5-848C-25B8-56E4-A0A761BBB236}"/>
              </a:ext>
            </a:extLst>
          </p:cNvPr>
          <p:cNvSpPr>
            <a:spLocks noGrp="1"/>
          </p:cNvSpPr>
          <p:nvPr>
            <p:ph type="sldNum" sz="quarter" idx="12"/>
          </p:nvPr>
        </p:nvSpPr>
        <p:spPr/>
        <p:txBody>
          <a:bodyPr/>
          <a:lstStyle/>
          <a:p>
            <a:fld id="{C1FF6DA9-008F-8B48-92A6-B652298478BF}"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Two-Ballot System</a:t>
            </a:r>
            <a:endParaRPr dirty="0"/>
          </a:p>
        </p:txBody>
      </p:sp>
      <p:sp>
        <p:nvSpPr>
          <p:cNvPr id="3" name="Content Placeholder 2"/>
          <p:cNvSpPr>
            <a:spLocks noGrp="1"/>
          </p:cNvSpPr>
          <p:nvPr>
            <p:ph idx="1"/>
          </p:nvPr>
        </p:nvSpPr>
        <p:spPr/>
        <p:txBody>
          <a:bodyPr>
            <a:normAutofit fontScale="70000" lnSpcReduction="20000"/>
          </a:bodyPr>
          <a:lstStyle/>
          <a:p>
            <a:r>
              <a:rPr lang="en-US" dirty="0"/>
              <a:t>Ballot A: The District Vote (Person)</a:t>
            </a:r>
          </a:p>
          <a:p>
            <a:pPr>
              <a:buFont typeface="Arial" panose="020B0604020202020204" pitchFamily="34" charset="0"/>
              <a:buChar char="•"/>
            </a:pPr>
            <a:r>
              <a:rPr lang="en-US" dirty="0"/>
              <a:t>Mechanism: First-Past-The-Post (FPTP).</a:t>
            </a:r>
          </a:p>
          <a:p>
            <a:pPr>
              <a:buFont typeface="Arial" panose="020B0604020202020204" pitchFamily="34" charset="0"/>
              <a:buChar char="•"/>
            </a:pPr>
            <a:r>
              <a:rPr lang="en-US" dirty="0"/>
              <a:t>Geography: Taiwan is divided into 73 single-member districts. </a:t>
            </a:r>
          </a:p>
          <a:p>
            <a:pPr>
              <a:buFont typeface="Arial" panose="020B0604020202020204" pitchFamily="34" charset="0"/>
              <a:buChar char="•"/>
            </a:pPr>
            <a:r>
              <a:rPr lang="en-US" dirty="0"/>
              <a:t>Outcome: The candidate with the most votes in that specific district wins. This favors large parties with strong local machines (KMT/DPP).</a:t>
            </a:r>
          </a:p>
          <a:p>
            <a:r>
              <a:rPr lang="en-US" dirty="0"/>
              <a:t>Ballot B: The Party Vote (Political Party)</a:t>
            </a:r>
          </a:p>
          <a:p>
            <a:pPr>
              <a:buFont typeface="Arial" panose="020B0604020202020204" pitchFamily="34" charset="0"/>
              <a:buChar char="•"/>
            </a:pPr>
            <a:r>
              <a:rPr lang="en-US" dirty="0"/>
              <a:t>Mechanism: Proportional Representation (PR).</a:t>
            </a:r>
          </a:p>
          <a:p>
            <a:pPr>
              <a:buFont typeface="Arial" panose="020B0604020202020204" pitchFamily="34" charset="0"/>
              <a:buChar char="•"/>
            </a:pPr>
            <a:r>
              <a:rPr lang="en-US" dirty="0"/>
              <a:t>The 5% Threshold: Only parties that receive at least 5% of the total national party vote are eligible to receive any of the 34 "at-large" seats.</a:t>
            </a:r>
          </a:p>
          <a:p>
            <a:pPr>
              <a:buFont typeface="Arial" panose="020B0604020202020204" pitchFamily="34" charset="0"/>
              <a:buChar char="•"/>
            </a:pPr>
            <a:r>
              <a:rPr lang="en-US" dirty="0"/>
              <a:t>Gender Quota: By law, at least 50% of the legislators elected from each party’s list must be women.</a:t>
            </a:r>
          </a:p>
        </p:txBody>
      </p:sp>
      <p:sp>
        <p:nvSpPr>
          <p:cNvPr id="4" name="投影片編號版面配置區 3">
            <a:extLst>
              <a:ext uri="{FF2B5EF4-FFF2-40B4-BE49-F238E27FC236}">
                <a16:creationId xmlns:a16="http://schemas.microsoft.com/office/drawing/2014/main" id="{0B2EAD2A-791A-0611-410F-99CE4A9649D8}"/>
              </a:ext>
            </a:extLst>
          </p:cNvPr>
          <p:cNvSpPr>
            <a:spLocks noGrp="1"/>
          </p:cNvSpPr>
          <p:nvPr>
            <p:ph type="sldNum" sz="quarter" idx="12"/>
          </p:nvPr>
        </p:nvSpPr>
        <p:spPr/>
        <p:txBody>
          <a:bodyPr/>
          <a:lstStyle/>
          <a:p>
            <a:fld id="{C1FF6DA9-008F-8B48-92A6-B652298478BF}"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DE1E1-8D56-928C-BE2F-C1065300CA7D}"/>
              </a:ext>
            </a:extLst>
          </p:cNvPr>
          <p:cNvSpPr>
            <a:spLocks noGrp="1"/>
          </p:cNvSpPr>
          <p:nvPr>
            <p:ph type="title"/>
          </p:nvPr>
        </p:nvSpPr>
        <p:spPr/>
        <p:txBody>
          <a:bodyPr>
            <a:normAutofit/>
          </a:bodyPr>
          <a:lstStyle/>
          <a:p>
            <a:r>
              <a:rPr lang="en-US" dirty="0"/>
              <a:t>The Indigenous Seats</a:t>
            </a:r>
          </a:p>
        </p:txBody>
      </p:sp>
      <p:sp>
        <p:nvSpPr>
          <p:cNvPr id="3" name="Content Placeholder 2">
            <a:extLst>
              <a:ext uri="{FF2B5EF4-FFF2-40B4-BE49-F238E27FC236}">
                <a16:creationId xmlns:a16="http://schemas.microsoft.com/office/drawing/2014/main" id="{9D2226F0-FB32-7910-758D-AA9E64658B2D}"/>
              </a:ext>
            </a:extLst>
          </p:cNvPr>
          <p:cNvSpPr>
            <a:spLocks noGrp="1"/>
          </p:cNvSpPr>
          <p:nvPr>
            <p:ph idx="1"/>
          </p:nvPr>
        </p:nvSpPr>
        <p:spPr/>
        <p:txBody>
          <a:bodyPr/>
          <a:lstStyle/>
          <a:p>
            <a:r>
              <a:rPr lang="en-US" sz="2400" dirty="0"/>
              <a:t>Indigenous voters do not vote in geographical districts. Instead, they vote in two special nationwide constituencies:</a:t>
            </a:r>
          </a:p>
          <a:p>
            <a:pPr>
              <a:buFont typeface="Arial" panose="020B0604020202020204" pitchFamily="34" charset="0"/>
              <a:buChar char="•"/>
            </a:pPr>
            <a:r>
              <a:rPr lang="en-US" sz="2400" dirty="0"/>
              <a:t>Lowland Indigenous</a:t>
            </a:r>
            <a:r>
              <a:rPr lang="en-US" sz="2400" b="1" dirty="0"/>
              <a:t>:</a:t>
            </a:r>
            <a:r>
              <a:rPr lang="en-US" sz="2400" dirty="0"/>
              <a:t> 3 seats.</a:t>
            </a:r>
          </a:p>
          <a:p>
            <a:pPr>
              <a:buFont typeface="Arial" panose="020B0604020202020204" pitchFamily="34" charset="0"/>
              <a:buChar char="•"/>
            </a:pPr>
            <a:r>
              <a:rPr lang="en-US" sz="2400" dirty="0"/>
              <a:t>Highland Indigenous</a:t>
            </a:r>
            <a:r>
              <a:rPr lang="en-US" sz="2400" b="1" dirty="0"/>
              <a:t>:</a:t>
            </a:r>
            <a:r>
              <a:rPr lang="en-US" sz="2400" dirty="0"/>
              <a:t> 3 seats.</a:t>
            </a:r>
          </a:p>
          <a:p>
            <a:pPr>
              <a:buFont typeface="Arial" panose="020B0604020202020204" pitchFamily="34" charset="0"/>
              <a:buChar char="•"/>
            </a:pPr>
            <a:r>
              <a:rPr lang="en-US" sz="2400" dirty="0"/>
              <a:t>System: They use Single Non-Transferable Vote (SNTV), where multiple winners are elected from a single pool of candidates.</a:t>
            </a:r>
          </a:p>
          <a:p>
            <a:pPr>
              <a:buFont typeface="Arial" panose="020B0604020202020204" pitchFamily="34" charset="0"/>
              <a:buChar char="•"/>
            </a:pPr>
            <a:r>
              <a:rPr lang="en-US" sz="2400" dirty="0"/>
              <a:t>The "Plains" vs. "Mountain" distinction is not based on where the person lives today, but on where their ancestors were registered during the Japanese colonial period and the early KMT era.</a:t>
            </a:r>
          </a:p>
          <a:p>
            <a:endParaRPr lang="en-US" dirty="0"/>
          </a:p>
        </p:txBody>
      </p:sp>
      <p:sp>
        <p:nvSpPr>
          <p:cNvPr id="4" name="Slide Number Placeholder 3">
            <a:extLst>
              <a:ext uri="{FF2B5EF4-FFF2-40B4-BE49-F238E27FC236}">
                <a16:creationId xmlns:a16="http://schemas.microsoft.com/office/drawing/2014/main" id="{2189EBAE-DD4D-6CD7-4CC4-CCCD1E139F3F}"/>
              </a:ext>
            </a:extLst>
          </p:cNvPr>
          <p:cNvSpPr>
            <a:spLocks noGrp="1"/>
          </p:cNvSpPr>
          <p:nvPr>
            <p:ph type="sldNum" sz="quarter" idx="12"/>
          </p:nvPr>
        </p:nvSpPr>
        <p:spPr/>
        <p:txBody>
          <a:bodyPr/>
          <a:lstStyle/>
          <a:p>
            <a:fld id="{C1FF6DA9-008F-8B48-92A6-B652298478BF}" type="slidenum">
              <a:rPr lang="en-US" smtClean="0"/>
              <a:t>21</a:t>
            </a:fld>
            <a:endParaRPr lang="en-US"/>
          </a:p>
        </p:txBody>
      </p:sp>
    </p:spTree>
    <p:extLst>
      <p:ext uri="{BB962C8B-B14F-4D97-AF65-F5344CB8AC3E}">
        <p14:creationId xmlns:p14="http://schemas.microsoft.com/office/powerpoint/2010/main" val="159221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01E7C-3DC6-996D-DADE-E0D8FF78740A}"/>
              </a:ext>
            </a:extLst>
          </p:cNvPr>
          <p:cNvSpPr>
            <a:spLocks noGrp="1"/>
          </p:cNvSpPr>
          <p:nvPr>
            <p:ph type="title"/>
          </p:nvPr>
        </p:nvSpPr>
        <p:spPr/>
        <p:txBody>
          <a:bodyPr/>
          <a:lstStyle/>
          <a:p>
            <a:r>
              <a:rPr lang="en-US" dirty="0"/>
              <a:t>Malapportionment</a:t>
            </a:r>
          </a:p>
        </p:txBody>
      </p:sp>
      <p:sp>
        <p:nvSpPr>
          <p:cNvPr id="3" name="Content Placeholder 2">
            <a:extLst>
              <a:ext uri="{FF2B5EF4-FFF2-40B4-BE49-F238E27FC236}">
                <a16:creationId xmlns:a16="http://schemas.microsoft.com/office/drawing/2014/main" id="{AF41F073-AA69-7D87-48F3-5AE4EB410FD5}"/>
              </a:ext>
            </a:extLst>
          </p:cNvPr>
          <p:cNvSpPr>
            <a:spLocks noGrp="1"/>
          </p:cNvSpPr>
          <p:nvPr>
            <p:ph idx="1"/>
          </p:nvPr>
        </p:nvSpPr>
        <p:spPr/>
        <p:txBody>
          <a:bodyPr>
            <a:normAutofit/>
          </a:bodyPr>
          <a:lstStyle/>
          <a:p>
            <a:r>
              <a:rPr lang="en-US" sz="2400" dirty="0"/>
              <a:t>The Constitution guarantees at least one seat per county. </a:t>
            </a:r>
          </a:p>
          <a:p>
            <a:r>
              <a:rPr lang="en-US" sz="2400" dirty="0"/>
              <a:t>The population of every district must be over 300,000, except Kinmen and Matsu.</a:t>
            </a:r>
          </a:p>
          <a:p>
            <a:r>
              <a:rPr lang="en-US" sz="2400" dirty="0"/>
              <a:t>A legislative candidate in </a:t>
            </a:r>
            <a:r>
              <a:rPr lang="en-US" sz="2400" dirty="0" err="1"/>
              <a:t>Lianjiang</a:t>
            </a:r>
            <a:r>
              <a:rPr lang="en-US" sz="2400" dirty="0"/>
              <a:t> County (Matsu) only needs around 5,000 votes to get elected. In Kinmen, 22,000 votes are enough for a seat. But it takes about 160,000 votes to be elected in the first district of New Taipei City.</a:t>
            </a:r>
          </a:p>
          <a:p>
            <a:r>
              <a:rPr lang="en-US" sz="2400" dirty="0"/>
              <a:t>This has been challenged in the Constitutional Court (Interpretation No. 721), but the court ruled the current system is constitutional.</a:t>
            </a:r>
          </a:p>
          <a:p>
            <a:endParaRPr lang="en-US" sz="2400" dirty="0"/>
          </a:p>
        </p:txBody>
      </p:sp>
      <p:sp>
        <p:nvSpPr>
          <p:cNvPr id="4" name="Slide Number Placeholder 3">
            <a:extLst>
              <a:ext uri="{FF2B5EF4-FFF2-40B4-BE49-F238E27FC236}">
                <a16:creationId xmlns:a16="http://schemas.microsoft.com/office/drawing/2014/main" id="{F748A595-7AA8-8222-AADB-6A380B1475EE}"/>
              </a:ext>
            </a:extLst>
          </p:cNvPr>
          <p:cNvSpPr>
            <a:spLocks noGrp="1"/>
          </p:cNvSpPr>
          <p:nvPr>
            <p:ph type="sldNum" sz="quarter" idx="12"/>
          </p:nvPr>
        </p:nvSpPr>
        <p:spPr/>
        <p:txBody>
          <a:bodyPr/>
          <a:lstStyle/>
          <a:p>
            <a:fld id="{C1FF6DA9-008F-8B48-92A6-B652298478BF}" type="slidenum">
              <a:rPr lang="en-US" smtClean="0"/>
              <a:t>22</a:t>
            </a:fld>
            <a:endParaRPr lang="en-US"/>
          </a:p>
        </p:txBody>
      </p:sp>
    </p:spTree>
    <p:extLst>
      <p:ext uri="{BB962C8B-B14F-4D97-AF65-F5344CB8AC3E}">
        <p14:creationId xmlns:p14="http://schemas.microsoft.com/office/powerpoint/2010/main" val="168681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01E7C-3DC6-996D-DADE-E0D8FF78740A}"/>
              </a:ext>
            </a:extLst>
          </p:cNvPr>
          <p:cNvSpPr>
            <a:spLocks noGrp="1"/>
          </p:cNvSpPr>
          <p:nvPr>
            <p:ph type="title"/>
          </p:nvPr>
        </p:nvSpPr>
        <p:spPr/>
        <p:txBody>
          <a:bodyPr/>
          <a:lstStyle/>
          <a:p>
            <a:r>
              <a:rPr lang="en-US" dirty="0"/>
              <a:t>Parallel System</a:t>
            </a:r>
          </a:p>
        </p:txBody>
      </p:sp>
      <p:sp>
        <p:nvSpPr>
          <p:cNvPr id="3" name="Content Placeholder 2">
            <a:extLst>
              <a:ext uri="{FF2B5EF4-FFF2-40B4-BE49-F238E27FC236}">
                <a16:creationId xmlns:a16="http://schemas.microsoft.com/office/drawing/2014/main" id="{AF41F073-AA69-7D87-48F3-5AE4EB410FD5}"/>
              </a:ext>
            </a:extLst>
          </p:cNvPr>
          <p:cNvSpPr>
            <a:spLocks noGrp="1"/>
          </p:cNvSpPr>
          <p:nvPr>
            <p:ph idx="1"/>
          </p:nvPr>
        </p:nvSpPr>
        <p:spPr/>
        <p:txBody>
          <a:bodyPr>
            <a:normAutofit/>
          </a:bodyPr>
          <a:lstStyle/>
          <a:p>
            <a:r>
              <a:rPr lang="en-US" sz="2400" dirty="0"/>
              <a:t>In the Mixed-Member Majoritarian or MMM system, major parties can win the majority of single-member districts while minor parties may receive seats in party-list tier (proportional representation).</a:t>
            </a:r>
          </a:p>
          <a:p>
            <a:r>
              <a:rPr lang="en-US" sz="2400" dirty="0"/>
              <a:t>Therefore, minor parties often concentrate on party-list. For example, all of TFP’s six seats are elected in party list.</a:t>
            </a:r>
          </a:p>
          <a:p>
            <a:r>
              <a:rPr lang="en-US" sz="2400" dirty="0"/>
              <a:t>Political parties tend to nominate the strongest candidates in single-member districts to boost their party-list vote shares.</a:t>
            </a:r>
          </a:p>
          <a:p>
            <a:r>
              <a:rPr lang="en-US" sz="2400" dirty="0"/>
              <a:t>However, major parties can win more seats disproportionally in single-member districts (e.g. 51% in every districts). MMM does not reflect current party support.</a:t>
            </a:r>
          </a:p>
          <a:p>
            <a:endParaRPr lang="en-US" sz="2400" dirty="0"/>
          </a:p>
          <a:p>
            <a:endParaRPr lang="en-US" sz="2400" dirty="0"/>
          </a:p>
        </p:txBody>
      </p:sp>
      <p:sp>
        <p:nvSpPr>
          <p:cNvPr id="4" name="Slide Number Placeholder 3">
            <a:extLst>
              <a:ext uri="{FF2B5EF4-FFF2-40B4-BE49-F238E27FC236}">
                <a16:creationId xmlns:a16="http://schemas.microsoft.com/office/drawing/2014/main" id="{F748A595-7AA8-8222-AADB-6A380B1475EE}"/>
              </a:ext>
            </a:extLst>
          </p:cNvPr>
          <p:cNvSpPr>
            <a:spLocks noGrp="1"/>
          </p:cNvSpPr>
          <p:nvPr>
            <p:ph type="sldNum" sz="quarter" idx="12"/>
          </p:nvPr>
        </p:nvSpPr>
        <p:spPr/>
        <p:txBody>
          <a:bodyPr/>
          <a:lstStyle/>
          <a:p>
            <a:fld id="{C1FF6DA9-008F-8B48-92A6-B652298478BF}" type="slidenum">
              <a:rPr lang="en-US" smtClean="0"/>
              <a:t>23</a:t>
            </a:fld>
            <a:endParaRPr lang="en-US"/>
          </a:p>
        </p:txBody>
      </p:sp>
    </p:spTree>
    <p:extLst>
      <p:ext uri="{BB962C8B-B14F-4D97-AF65-F5344CB8AC3E}">
        <p14:creationId xmlns:p14="http://schemas.microsoft.com/office/powerpoint/2010/main" val="508940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982A8-F41E-23CD-DE0C-A0033429A60B}"/>
              </a:ext>
            </a:extLst>
          </p:cNvPr>
          <p:cNvSpPr>
            <a:spLocks noGrp="1"/>
          </p:cNvSpPr>
          <p:nvPr>
            <p:ph type="title"/>
          </p:nvPr>
        </p:nvSpPr>
        <p:spPr/>
        <p:txBody>
          <a:bodyPr/>
          <a:lstStyle/>
          <a:p>
            <a:r>
              <a:rPr lang="en-US" dirty="0"/>
              <a:t>Voting Behavior</a:t>
            </a:r>
          </a:p>
        </p:txBody>
      </p:sp>
      <p:sp>
        <p:nvSpPr>
          <p:cNvPr id="3" name="Content Placeholder 2">
            <a:extLst>
              <a:ext uri="{FF2B5EF4-FFF2-40B4-BE49-F238E27FC236}">
                <a16:creationId xmlns:a16="http://schemas.microsoft.com/office/drawing/2014/main" id="{719ED867-A9E8-0F13-EEE9-7E4FA0F961BE}"/>
              </a:ext>
            </a:extLst>
          </p:cNvPr>
          <p:cNvSpPr>
            <a:spLocks noGrp="1"/>
          </p:cNvSpPr>
          <p:nvPr>
            <p:ph idx="1"/>
          </p:nvPr>
        </p:nvSpPr>
        <p:spPr/>
        <p:txBody>
          <a:bodyPr>
            <a:normAutofit/>
          </a:bodyPr>
          <a:lstStyle/>
          <a:p>
            <a:r>
              <a:rPr lang="en-US" sz="2400" dirty="0"/>
              <a:t>Partisanship anchors voting behavior. However, about 40% of people claim that they don’t identify with any party.</a:t>
            </a:r>
          </a:p>
          <a:p>
            <a:r>
              <a:rPr lang="en-US" sz="2400" dirty="0"/>
              <a:t>National identity and views on independence is the underlying cleavage. They are related to national security, economic development, and even pension reform. </a:t>
            </a:r>
          </a:p>
          <a:p>
            <a:r>
              <a:rPr lang="en-US" sz="2400" dirty="0"/>
              <a:t>Nuclear power and death penalty are the most prominent issues besides national identity. The DPP used to oppose nuclear power and death penalty, and the KMT and TPP are supporting both.</a:t>
            </a:r>
          </a:p>
          <a:p>
            <a:endParaRPr lang="en-US" sz="2400" dirty="0"/>
          </a:p>
        </p:txBody>
      </p:sp>
      <p:sp>
        <p:nvSpPr>
          <p:cNvPr id="4" name="Slide Number Placeholder 3">
            <a:extLst>
              <a:ext uri="{FF2B5EF4-FFF2-40B4-BE49-F238E27FC236}">
                <a16:creationId xmlns:a16="http://schemas.microsoft.com/office/drawing/2014/main" id="{1FA43392-0445-1842-2F69-0777519E746D}"/>
              </a:ext>
            </a:extLst>
          </p:cNvPr>
          <p:cNvSpPr>
            <a:spLocks noGrp="1"/>
          </p:cNvSpPr>
          <p:nvPr>
            <p:ph type="sldNum" sz="quarter" idx="12"/>
          </p:nvPr>
        </p:nvSpPr>
        <p:spPr/>
        <p:txBody>
          <a:bodyPr/>
          <a:lstStyle/>
          <a:p>
            <a:fld id="{C1FF6DA9-008F-8B48-92A6-B652298478BF}" type="slidenum">
              <a:rPr lang="en-US" smtClean="0"/>
              <a:t>24</a:t>
            </a:fld>
            <a:endParaRPr lang="en-US"/>
          </a:p>
        </p:txBody>
      </p:sp>
    </p:spTree>
    <p:extLst>
      <p:ext uri="{BB962C8B-B14F-4D97-AF65-F5344CB8AC3E}">
        <p14:creationId xmlns:p14="http://schemas.microsoft.com/office/powerpoint/2010/main" val="16603455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E477E-740E-FF26-86F1-9F15799F611E}"/>
              </a:ext>
            </a:extLst>
          </p:cNvPr>
          <p:cNvSpPr>
            <a:spLocks noGrp="1"/>
          </p:cNvSpPr>
          <p:nvPr>
            <p:ph type="title"/>
          </p:nvPr>
        </p:nvSpPr>
        <p:spPr/>
        <p:txBody>
          <a:bodyPr/>
          <a:lstStyle/>
          <a:p>
            <a:r>
              <a:rPr lang="en-US" dirty="0"/>
              <a:t>Election Body</a:t>
            </a:r>
          </a:p>
        </p:txBody>
      </p:sp>
      <p:sp>
        <p:nvSpPr>
          <p:cNvPr id="3" name="Content Placeholder 2">
            <a:extLst>
              <a:ext uri="{FF2B5EF4-FFF2-40B4-BE49-F238E27FC236}">
                <a16:creationId xmlns:a16="http://schemas.microsoft.com/office/drawing/2014/main" id="{AA9736F8-6B0E-4E62-2C3F-DE729EFBB2E5}"/>
              </a:ext>
            </a:extLst>
          </p:cNvPr>
          <p:cNvSpPr>
            <a:spLocks noGrp="1"/>
          </p:cNvSpPr>
          <p:nvPr>
            <p:ph idx="1"/>
          </p:nvPr>
        </p:nvSpPr>
        <p:spPr/>
        <p:txBody>
          <a:bodyPr/>
          <a:lstStyle/>
          <a:p>
            <a:r>
              <a:rPr lang="en-US" sz="2400" dirty="0"/>
              <a:t>Central Election Commission (CEC) is an independent institution. There are 11 commissioners, but only the</a:t>
            </a:r>
            <a:r>
              <a:rPr lang="zh-TW" altLang="en-US" sz="2400" dirty="0"/>
              <a:t> </a:t>
            </a:r>
            <a:r>
              <a:rPr lang="en-US" altLang="zh-TW" sz="2400" dirty="0"/>
              <a:t>President and Vice President are full-time.</a:t>
            </a:r>
            <a:r>
              <a:rPr lang="en-US" sz="2400" dirty="0"/>
              <a:t>  All of them have to be approved by the Legislative Yuan.</a:t>
            </a:r>
          </a:p>
          <a:p>
            <a:r>
              <a:rPr lang="en-US" sz="2400" dirty="0"/>
              <a:t>CEC is responsible for integrity and regularity of elections, but Ministry of Interior manages the voter registration.</a:t>
            </a:r>
          </a:p>
          <a:p>
            <a:r>
              <a:rPr lang="en-US" sz="2400" dirty="0"/>
              <a:t>Campaign finance is audited by the Control Yuan. Before a candidate or party can accept a single dollar, they must apply to the Control Yuan to open a dedicated campaign account</a:t>
            </a:r>
          </a:p>
          <a:p>
            <a:r>
              <a:rPr lang="en-US" sz="2400" dirty="0"/>
              <a:t>Election history can be found at CEC website: https://</a:t>
            </a:r>
            <a:r>
              <a:rPr lang="en-US" sz="2400" dirty="0" err="1"/>
              <a:t>web.cec.gov.tw</a:t>
            </a:r>
            <a:r>
              <a:rPr lang="en-US" sz="2400" dirty="0"/>
              <a:t>/</a:t>
            </a:r>
            <a:r>
              <a:rPr lang="en-US" sz="2400" dirty="0" err="1"/>
              <a:t>english</a:t>
            </a:r>
            <a:r>
              <a:rPr lang="en-US" sz="2400" dirty="0"/>
              <a:t>/article/24</a:t>
            </a:r>
          </a:p>
        </p:txBody>
      </p:sp>
      <p:sp>
        <p:nvSpPr>
          <p:cNvPr id="4" name="Slide Number Placeholder 3">
            <a:extLst>
              <a:ext uri="{FF2B5EF4-FFF2-40B4-BE49-F238E27FC236}">
                <a16:creationId xmlns:a16="http://schemas.microsoft.com/office/drawing/2014/main" id="{2FCF90D0-6A07-E52C-F54C-57D2FD394D6D}"/>
              </a:ext>
            </a:extLst>
          </p:cNvPr>
          <p:cNvSpPr>
            <a:spLocks noGrp="1"/>
          </p:cNvSpPr>
          <p:nvPr>
            <p:ph type="sldNum" sz="quarter" idx="12"/>
          </p:nvPr>
        </p:nvSpPr>
        <p:spPr/>
        <p:txBody>
          <a:bodyPr/>
          <a:lstStyle/>
          <a:p>
            <a:fld id="{C1FF6DA9-008F-8B48-92A6-B652298478BF}" type="slidenum">
              <a:rPr lang="en-US" smtClean="0"/>
              <a:t>25</a:t>
            </a:fld>
            <a:endParaRPr lang="en-US"/>
          </a:p>
        </p:txBody>
      </p:sp>
    </p:spTree>
    <p:extLst>
      <p:ext uri="{BB962C8B-B14F-4D97-AF65-F5344CB8AC3E}">
        <p14:creationId xmlns:p14="http://schemas.microsoft.com/office/powerpoint/2010/main" val="3695222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a:bodyPr>
          <a:lstStyle/>
          <a:p>
            <a:r>
              <a:rPr sz="2400" dirty="0"/>
              <a:t>Taiwan elections combine modern democratic institutions with deep political culture.</a:t>
            </a:r>
            <a:endParaRPr lang="en-US" sz="2400" dirty="0"/>
          </a:p>
          <a:p>
            <a:r>
              <a:rPr lang="en-US" sz="2400" dirty="0"/>
              <a:t>Historical legacy—local factions and identity--remains very influential, while two-ballot system, specified in the Constitution, structures party competition.</a:t>
            </a:r>
          </a:p>
          <a:p>
            <a:r>
              <a:rPr lang="en-US" sz="2400" dirty="0"/>
              <a:t>Taiwan’s democracy is not perfect, especially the division on identity and related issues. </a:t>
            </a:r>
          </a:p>
          <a:p>
            <a:r>
              <a:rPr lang="en-US" sz="2400" dirty="0"/>
              <a:t>But most people agree that elections can reflect people’s positions on the pressing issues, instead of emotions or opinion manipulated </a:t>
            </a:r>
            <a:r>
              <a:rPr lang="en-US" sz="2400"/>
              <a:t>by politicians.</a:t>
            </a:r>
            <a:endParaRPr lang="en-US" sz="2400" dirty="0"/>
          </a:p>
        </p:txBody>
      </p:sp>
      <p:sp>
        <p:nvSpPr>
          <p:cNvPr id="4" name="投影片編號版面配置區 3">
            <a:extLst>
              <a:ext uri="{FF2B5EF4-FFF2-40B4-BE49-F238E27FC236}">
                <a16:creationId xmlns:a16="http://schemas.microsoft.com/office/drawing/2014/main" id="{36B51BFC-3A1A-322F-DADF-2596ECDAC198}"/>
              </a:ext>
            </a:extLst>
          </p:cNvPr>
          <p:cNvSpPr>
            <a:spLocks noGrp="1"/>
          </p:cNvSpPr>
          <p:nvPr>
            <p:ph type="sldNum" sz="quarter" idx="12"/>
          </p:nvPr>
        </p:nvSpPr>
        <p:spPr/>
        <p:txBody>
          <a:bodyPr/>
          <a:lstStyle/>
          <a:p>
            <a:fld id="{C1FF6DA9-008F-8B48-92A6-B652298478BF}"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normAutofit fontScale="92500" lnSpcReduction="20000"/>
          </a:bodyPr>
          <a:lstStyle/>
          <a:p>
            <a:r>
              <a:rPr dirty="0"/>
              <a:t>Rigger, Shelley. </a:t>
            </a:r>
            <a:r>
              <a:rPr lang="en-US" dirty="0"/>
              <a:t>1994</a:t>
            </a:r>
            <a:r>
              <a:rPr dirty="0"/>
              <a:t>. </a:t>
            </a:r>
            <a:r>
              <a:rPr lang="en-US" dirty="0"/>
              <a:t>Machine </a:t>
            </a:r>
            <a:r>
              <a:rPr dirty="0"/>
              <a:t>Politics in</a:t>
            </a:r>
            <a:r>
              <a:rPr lang="en-US" dirty="0"/>
              <a:t> the New</a:t>
            </a:r>
            <a:r>
              <a:rPr dirty="0"/>
              <a:t> Taiwan.</a:t>
            </a:r>
          </a:p>
          <a:p>
            <a:r>
              <a:rPr dirty="0"/>
              <a:t>Chu, Yun-</a:t>
            </a:r>
            <a:r>
              <a:rPr dirty="0" err="1"/>
              <a:t>han</a:t>
            </a:r>
            <a:r>
              <a:rPr dirty="0"/>
              <a:t> and Lin, </a:t>
            </a:r>
            <a:r>
              <a:rPr dirty="0" err="1"/>
              <a:t>Jih</a:t>
            </a:r>
            <a:r>
              <a:rPr dirty="0"/>
              <a:t>-wen. 2001. Political Development in Taiwan.</a:t>
            </a:r>
          </a:p>
          <a:p>
            <a:r>
              <a:rPr dirty="0"/>
              <a:t>Hsieh, John </a:t>
            </a:r>
            <a:r>
              <a:rPr dirty="0" err="1"/>
              <a:t>Fuh</a:t>
            </a:r>
            <a:r>
              <a:rPr dirty="0"/>
              <a:t>-sheng. 2005. Ethnicity, National Identity, and Domestic Politics in Taiwan.</a:t>
            </a:r>
          </a:p>
          <a:p>
            <a:r>
              <a:rPr lang="en-US" dirty="0" err="1"/>
              <a:t>Achen</a:t>
            </a:r>
            <a:r>
              <a:rPr lang="en-US" dirty="0"/>
              <a:t>, Chris and TY Wang (eds). 2017. The </a:t>
            </a:r>
            <a:r>
              <a:rPr dirty="0"/>
              <a:t>Taiwan</a:t>
            </a:r>
            <a:r>
              <a:rPr lang="en-US" dirty="0"/>
              <a:t> Voter</a:t>
            </a:r>
            <a:r>
              <a:rPr dirty="0"/>
              <a:t>.</a:t>
            </a:r>
            <a:endParaRPr lang="en-US" dirty="0"/>
          </a:p>
          <a:p>
            <a:r>
              <a:rPr lang="en-US" dirty="0"/>
              <a:t>Fell, </a:t>
            </a:r>
            <a:r>
              <a:rPr lang="en-US" dirty="0" err="1"/>
              <a:t>Dafydd</a:t>
            </a:r>
            <a:r>
              <a:rPr lang="en-US" dirty="0"/>
              <a:t>. 2018. Government and Politics in Taiwan.</a:t>
            </a:r>
          </a:p>
        </p:txBody>
      </p:sp>
      <p:sp>
        <p:nvSpPr>
          <p:cNvPr id="4" name="投影片編號版面配置區 3">
            <a:extLst>
              <a:ext uri="{FF2B5EF4-FFF2-40B4-BE49-F238E27FC236}">
                <a16:creationId xmlns:a16="http://schemas.microsoft.com/office/drawing/2014/main" id="{13006187-BA24-7FC8-B598-BAB43DA9D53D}"/>
              </a:ext>
            </a:extLst>
          </p:cNvPr>
          <p:cNvSpPr>
            <a:spLocks noGrp="1"/>
          </p:cNvSpPr>
          <p:nvPr>
            <p:ph type="sldNum" sz="quarter" idx="12"/>
          </p:nvPr>
        </p:nvSpPr>
        <p:spPr/>
        <p:txBody>
          <a:bodyPr/>
          <a:lstStyle/>
          <a:p>
            <a:fld id="{C1FF6DA9-008F-8B48-92A6-B652298478BF}" type="slidenum">
              <a:rPr lang="en-US" smtClean="0"/>
              <a:t>27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1192</TotalTime>
  <Words>1813</Words>
  <Application>Microsoft Macintosh PowerPoint</Application>
  <PresentationFormat>On-screen Show (4:3)</PresentationFormat>
  <Paragraphs>145</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Wingdings</vt:lpstr>
      <vt:lpstr>Office Theme</vt:lpstr>
      <vt:lpstr>Taiwan’s Elections and Democratization</vt:lpstr>
      <vt:lpstr>PowerPoint Presentation</vt:lpstr>
      <vt:lpstr>Why Taiwan’s Elections Matter</vt:lpstr>
      <vt:lpstr>Historical Roots</vt:lpstr>
      <vt:lpstr>Election History</vt:lpstr>
      <vt:lpstr>Elections and Democratization</vt:lpstr>
      <vt:lpstr>Chung-li Incident (1977)</vt:lpstr>
      <vt:lpstr>Ciaotao Rally (1979)</vt:lpstr>
      <vt:lpstr>Formosa Incident (1979)</vt:lpstr>
      <vt:lpstr>DPP founded (1986)</vt:lpstr>
      <vt:lpstr>Turning Points</vt:lpstr>
      <vt:lpstr>Election Issues</vt:lpstr>
      <vt:lpstr>Electoral Participation</vt:lpstr>
      <vt:lpstr>Turnout Rates in Presidential Elections</vt:lpstr>
      <vt:lpstr>Party System</vt:lpstr>
      <vt:lpstr>PowerPoint Presentation</vt:lpstr>
      <vt:lpstr>Local Factions (1)</vt:lpstr>
      <vt:lpstr>Local Factions (2)</vt:lpstr>
      <vt:lpstr>Current Legislative Election System</vt:lpstr>
      <vt:lpstr>Two-Ballot System</vt:lpstr>
      <vt:lpstr>The Indigenous Seats</vt:lpstr>
      <vt:lpstr>Malapportionment</vt:lpstr>
      <vt:lpstr>Parallel System</vt:lpstr>
      <vt:lpstr>Voting Behavior</vt:lpstr>
      <vt:lpstr>Election Body</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Taiwan’s Elections and Democratization</dc:title>
  <dc:subject/>
  <dc:creator/>
  <cp:keywords/>
  <dc:description>generated using python-pptx</dc:description>
  <cp:lastModifiedBy>Chia-hung Tsai</cp:lastModifiedBy>
  <cp:revision>27</cp:revision>
  <dcterms:created xsi:type="dcterms:W3CDTF">2013-01-27T09:14:16Z</dcterms:created>
  <dcterms:modified xsi:type="dcterms:W3CDTF">2026-03-16T10:28:28Z</dcterms:modified>
  <cp:category/>
</cp:coreProperties>
</file>